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1"/>
  </p:notesMasterIdLst>
  <p:handoutMasterIdLst>
    <p:handoutMasterId r:id="rId22"/>
  </p:handoutMasterIdLst>
  <p:sldIdLst>
    <p:sldId id="410" r:id="rId5"/>
    <p:sldId id="383" r:id="rId6"/>
    <p:sldId id="423" r:id="rId7"/>
    <p:sldId id="411" r:id="rId8"/>
    <p:sldId id="412" r:id="rId9"/>
    <p:sldId id="413" r:id="rId10"/>
    <p:sldId id="422" r:id="rId11"/>
    <p:sldId id="425" r:id="rId12"/>
    <p:sldId id="424" r:id="rId13"/>
    <p:sldId id="415" r:id="rId14"/>
    <p:sldId id="426" r:id="rId15"/>
    <p:sldId id="416" r:id="rId16"/>
    <p:sldId id="417" r:id="rId17"/>
    <p:sldId id="419" r:id="rId18"/>
    <p:sldId id="420" r:id="rId19"/>
    <p:sldId id="42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4CBE08F-75E2-4847-926F-13891C045C7C}">
          <p14:sldIdLst>
            <p14:sldId id="410"/>
            <p14:sldId id="383"/>
            <p14:sldId id="423"/>
            <p14:sldId id="411"/>
            <p14:sldId id="412"/>
            <p14:sldId id="413"/>
            <p14:sldId id="422"/>
            <p14:sldId id="425"/>
            <p14:sldId id="424"/>
            <p14:sldId id="415"/>
            <p14:sldId id="426"/>
            <p14:sldId id="416"/>
            <p14:sldId id="417"/>
            <p14:sldId id="419"/>
            <p14:sldId id="420"/>
            <p14:sldId id="42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49" autoAdjust="0"/>
    <p:restoredTop sz="96327" autoAdjust="0"/>
  </p:normalViewPr>
  <p:slideViewPr>
    <p:cSldViewPr snapToGrid="0">
      <p:cViewPr>
        <p:scale>
          <a:sx n="63" d="100"/>
          <a:sy n="63" d="100"/>
        </p:scale>
        <p:origin x="768" y="4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7/28/2025</a:t>
            </a:fld>
            <a:endParaRPr lang="en-US" dirty="0"/>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7/28/2025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1134168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dirty="0">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dirty="0">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universe.roboflow.com/indianfood/indian_food-pwzlc" TargetMode="External"/><Relationship Id="rId2" Type="http://schemas.openxmlformats.org/officeDocument/2006/relationships/hyperlink" Target="https://fdc.nal.usda.gov/"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6289584" y="1203959"/>
            <a:ext cx="5486400" cy="3291840"/>
          </a:xfrm>
        </p:spPr>
        <p:txBody>
          <a:bodyPr/>
          <a:lstStyle/>
          <a:p>
            <a:r>
              <a:rPr lang="en-IN" sz="4400" cap="small" dirty="0">
                <a:latin typeface="Times New Roman" panose="02020603050405020304" pitchFamily="18" charset="0"/>
                <a:cs typeface="Times New Roman" panose="02020603050405020304" pitchFamily="18" charset="0"/>
              </a:rPr>
              <a:t>Image-Based Food Recognition for Calorie Detection</a:t>
            </a:r>
            <a:br>
              <a:rPr lang="en-IN" sz="4400" dirty="0">
                <a:latin typeface="Times New Roman" panose="02020603050405020304" pitchFamily="18" charset="0"/>
                <a:cs typeface="Times New Roman" panose="02020603050405020304" pitchFamily="18" charset="0"/>
              </a:rPr>
            </a:br>
            <a:endParaRPr lang="en-US" sz="4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572885C-20BD-2F3F-9637-17619F240EDE}"/>
              </a:ext>
            </a:extLst>
          </p:cNvPr>
          <p:cNvSpPr txBox="1"/>
          <p:nvPr/>
        </p:nvSpPr>
        <p:spPr>
          <a:xfrm>
            <a:off x="2631984" y="0"/>
            <a:ext cx="7253696" cy="1200329"/>
          </a:xfrm>
          <a:prstGeom prst="rect">
            <a:avLst/>
          </a:prstGeom>
          <a:noFill/>
        </p:spPr>
        <p:txBody>
          <a:bodyPr wrap="square">
            <a:spAutoFit/>
          </a:bodyPr>
          <a:lstStyle/>
          <a:p>
            <a:pPr algn="ctr"/>
            <a:r>
              <a:rPr lang="en-US" b="1" dirty="0">
                <a:solidFill>
                  <a:schemeClr val="bg1"/>
                </a:solidFill>
                <a:latin typeface="Times New Roman" panose="02020603050405020304" pitchFamily="18" charset="0"/>
                <a:cs typeface="Times New Roman" panose="02020603050405020304" pitchFamily="18" charset="0"/>
              </a:rPr>
              <a:t>B.M.S. COLLEGE OF ENGINEERING</a:t>
            </a:r>
            <a:endParaRPr lang="en-IN" b="1" dirty="0">
              <a:solidFill>
                <a:schemeClr val="bg1"/>
              </a:solidFill>
              <a:latin typeface="Times New Roman" panose="02020603050405020304" pitchFamily="18" charset="0"/>
              <a:cs typeface="Times New Roman" panose="02020603050405020304" pitchFamily="18" charset="0"/>
            </a:endParaRPr>
          </a:p>
          <a:p>
            <a:pPr algn="ctr"/>
            <a:r>
              <a:rPr lang="en-US" b="1" dirty="0">
                <a:solidFill>
                  <a:schemeClr val="bg1"/>
                </a:solidFill>
                <a:latin typeface="Times New Roman" panose="02020603050405020304" pitchFamily="18" charset="0"/>
                <a:cs typeface="Times New Roman" panose="02020603050405020304" pitchFamily="18" charset="0"/>
              </a:rPr>
              <a:t>(Autonomous college under VTU) </a:t>
            </a:r>
            <a:endParaRPr lang="en-IN" b="1" dirty="0">
              <a:solidFill>
                <a:schemeClr val="bg1"/>
              </a:solidFill>
              <a:latin typeface="Times New Roman" panose="02020603050405020304" pitchFamily="18" charset="0"/>
              <a:cs typeface="Times New Roman" panose="02020603050405020304" pitchFamily="18" charset="0"/>
            </a:endParaRPr>
          </a:p>
          <a:p>
            <a:pPr algn="ctr"/>
            <a:r>
              <a:rPr lang="en-US" b="1" dirty="0">
                <a:solidFill>
                  <a:schemeClr val="bg1"/>
                </a:solidFill>
                <a:latin typeface="Times New Roman" panose="02020603050405020304" pitchFamily="18" charset="0"/>
                <a:cs typeface="Times New Roman" panose="02020603050405020304" pitchFamily="18" charset="0"/>
              </a:rPr>
              <a:t>Department of Computer Applications</a:t>
            </a:r>
            <a:endParaRPr lang="en-IN" b="1" dirty="0">
              <a:solidFill>
                <a:schemeClr val="bg1"/>
              </a:solidFill>
              <a:latin typeface="Times New Roman" panose="02020603050405020304" pitchFamily="18" charset="0"/>
              <a:cs typeface="Times New Roman" panose="02020603050405020304" pitchFamily="18" charset="0"/>
            </a:endParaRPr>
          </a:p>
          <a:p>
            <a:pPr algn="ctr"/>
            <a:r>
              <a:rPr lang="en-US" b="1" dirty="0">
                <a:solidFill>
                  <a:schemeClr val="bg1"/>
                </a:solidFill>
                <a:latin typeface="Times New Roman" panose="02020603050405020304" pitchFamily="18" charset="0"/>
                <a:cs typeface="Times New Roman" panose="02020603050405020304" pitchFamily="18" charset="0"/>
              </a:rPr>
              <a:t> </a:t>
            </a:r>
            <a:endParaRPr lang="en-IN" b="1" dirty="0">
              <a:solidFill>
                <a:schemeClr val="bg1"/>
              </a:solidFill>
              <a:latin typeface="Times New Roman" panose="02020603050405020304" pitchFamily="18" charset="0"/>
              <a:cs typeface="Times New Roman" panose="02020603050405020304" pitchFamily="18" charset="0"/>
            </a:endParaRPr>
          </a:p>
        </p:txBody>
      </p:sp>
      <p:pic>
        <p:nvPicPr>
          <p:cNvPr id="5" name="Image 2">
            <a:extLst>
              <a:ext uri="{FF2B5EF4-FFF2-40B4-BE49-F238E27FC236}">
                <a16:creationId xmlns:a16="http://schemas.microsoft.com/office/drawing/2014/main" id="{19EA3E04-F640-35B8-79D2-68FDA8B8CBF3}"/>
              </a:ext>
            </a:extLst>
          </p:cNvPr>
          <p:cNvPicPr>
            <a:picLocks/>
          </p:cNvPicPr>
          <p:nvPr/>
        </p:nvPicPr>
        <p:blipFill>
          <a:blip r:embed="rId3" cstate="print"/>
          <a:stretch>
            <a:fillRect/>
          </a:stretch>
        </p:blipFill>
        <p:spPr>
          <a:xfrm>
            <a:off x="3271368" y="-3630"/>
            <a:ext cx="779795" cy="773825"/>
          </a:xfrm>
          <a:prstGeom prst="rect">
            <a:avLst/>
          </a:prstGeom>
        </p:spPr>
      </p:pic>
      <p:sp>
        <p:nvSpPr>
          <p:cNvPr id="7" name="TextBox 6">
            <a:extLst>
              <a:ext uri="{FF2B5EF4-FFF2-40B4-BE49-F238E27FC236}">
                <a16:creationId xmlns:a16="http://schemas.microsoft.com/office/drawing/2014/main" id="{CFA0DBFC-FE92-5F7F-198B-916525E0CC10}"/>
              </a:ext>
            </a:extLst>
          </p:cNvPr>
          <p:cNvSpPr txBox="1"/>
          <p:nvPr/>
        </p:nvSpPr>
        <p:spPr>
          <a:xfrm>
            <a:off x="6289584" y="4495799"/>
            <a:ext cx="6096000" cy="923330"/>
          </a:xfrm>
          <a:prstGeom prst="rect">
            <a:avLst/>
          </a:prstGeom>
          <a:noFill/>
        </p:spPr>
        <p:txBody>
          <a:bodyPr wrap="square">
            <a:spAutoFit/>
          </a:bodyPr>
          <a:lstStyle/>
          <a:p>
            <a:r>
              <a:rPr lang="en-IN" dirty="0">
                <a:solidFill>
                  <a:schemeClr val="bg1"/>
                </a:solidFill>
              </a:rPr>
              <a:t>Presented By:</a:t>
            </a:r>
          </a:p>
          <a:p>
            <a:r>
              <a:rPr lang="en-IN" dirty="0">
                <a:solidFill>
                  <a:schemeClr val="bg1"/>
                </a:solidFill>
              </a:rPr>
              <a:t>Vaishnavi G.K</a:t>
            </a:r>
          </a:p>
          <a:p>
            <a:r>
              <a:rPr lang="en-IN" dirty="0">
                <a:solidFill>
                  <a:schemeClr val="bg1"/>
                </a:solidFill>
                <a:latin typeface="Times New Roman" panose="02020603050405020304" pitchFamily="18" charset="0"/>
                <a:cs typeface="Times New Roman" panose="02020603050405020304" pitchFamily="18" charset="0"/>
              </a:rPr>
              <a:t>1BM23MC109</a:t>
            </a:r>
          </a:p>
        </p:txBody>
      </p:sp>
      <p:sp>
        <p:nvSpPr>
          <p:cNvPr id="6" name="TextBox 5">
            <a:extLst>
              <a:ext uri="{FF2B5EF4-FFF2-40B4-BE49-F238E27FC236}">
                <a16:creationId xmlns:a16="http://schemas.microsoft.com/office/drawing/2014/main" id="{140EA112-FA4D-2285-FF1F-5CF65EDB2910}"/>
              </a:ext>
            </a:extLst>
          </p:cNvPr>
          <p:cNvSpPr txBox="1"/>
          <p:nvPr/>
        </p:nvSpPr>
        <p:spPr>
          <a:xfrm>
            <a:off x="6289584" y="5831116"/>
            <a:ext cx="6192520" cy="1200329"/>
          </a:xfrm>
          <a:prstGeom prst="rect">
            <a:avLst/>
          </a:prstGeom>
          <a:noFill/>
        </p:spPr>
        <p:txBody>
          <a:bodyPr wrap="square">
            <a:spAutoFit/>
          </a:bodyPr>
          <a:lstStyle/>
          <a:p>
            <a:r>
              <a:rPr lang="en-US" dirty="0">
                <a:solidFill>
                  <a:schemeClr val="bg1"/>
                </a:solidFill>
                <a:latin typeface="Times New Roman" panose="02020603050405020304" pitchFamily="18" charset="0"/>
                <a:cs typeface="Times New Roman" panose="02020603050405020304" pitchFamily="18" charset="0"/>
              </a:rPr>
              <a:t>Guided</a:t>
            </a:r>
            <a:r>
              <a:rPr lang="en-IN" dirty="0">
                <a:solidFill>
                  <a:schemeClr val="bg1"/>
                </a:solidFill>
                <a:latin typeface="Times New Roman" panose="02020603050405020304" pitchFamily="18" charset="0"/>
                <a:cs typeface="Times New Roman" panose="02020603050405020304" pitchFamily="18" charset="0"/>
              </a:rPr>
              <a:t> by:</a:t>
            </a:r>
          </a:p>
          <a:p>
            <a:r>
              <a:rPr lang="en-IN" dirty="0">
                <a:solidFill>
                  <a:schemeClr val="bg1"/>
                </a:solidFill>
                <a:latin typeface="Times New Roman" panose="02020603050405020304" pitchFamily="18" charset="0"/>
                <a:cs typeface="Times New Roman" panose="02020603050405020304" pitchFamily="18" charset="0"/>
              </a:rPr>
              <a:t>Dr. Ch Ram Mohan Reddy</a:t>
            </a:r>
          </a:p>
          <a:p>
            <a:r>
              <a:rPr lang="en-IN" dirty="0">
                <a:solidFill>
                  <a:schemeClr val="bg1"/>
                </a:solidFill>
                <a:latin typeface="Times New Roman" panose="02020603050405020304" pitchFamily="18" charset="0"/>
                <a:cs typeface="Times New Roman" panose="02020603050405020304" pitchFamily="18" charset="0"/>
              </a:rPr>
              <a:t>Professor</a:t>
            </a:r>
            <a:endParaRPr lang="en-US" dirty="0">
              <a:solidFill>
                <a:schemeClr val="bg1"/>
              </a:solidFill>
              <a:latin typeface="Times New Roman" panose="02020603050405020304" pitchFamily="18" charset="0"/>
              <a:cs typeface="Times New Roman" panose="02020603050405020304" pitchFamily="18" charset="0"/>
            </a:endParaRPr>
          </a:p>
          <a:p>
            <a:endParaRPr lang="en-US" dirty="0">
              <a:solidFill>
                <a:schemeClr val="bg1"/>
              </a:solidFill>
            </a:endParaRPr>
          </a:p>
        </p:txBody>
      </p:sp>
      <p:sp>
        <p:nvSpPr>
          <p:cNvPr id="8" name="TextBox 7">
            <a:extLst>
              <a:ext uri="{FF2B5EF4-FFF2-40B4-BE49-F238E27FC236}">
                <a16:creationId xmlns:a16="http://schemas.microsoft.com/office/drawing/2014/main" id="{144A923C-2B67-E791-3135-84BD27F793BD}"/>
              </a:ext>
            </a:extLst>
          </p:cNvPr>
          <p:cNvSpPr txBox="1"/>
          <p:nvPr/>
        </p:nvSpPr>
        <p:spPr>
          <a:xfrm>
            <a:off x="4825690" y="1200329"/>
            <a:ext cx="6239106" cy="400110"/>
          </a:xfrm>
          <a:prstGeom prst="rect">
            <a:avLst/>
          </a:prstGeom>
          <a:noFill/>
        </p:spPr>
        <p:txBody>
          <a:bodyPr wrap="square">
            <a:spAutoFit/>
          </a:bodyPr>
          <a:lstStyle/>
          <a:p>
            <a:r>
              <a:rPr lang="en-IN" sz="2000" b="1" dirty="0">
                <a:solidFill>
                  <a:schemeClr val="bg1"/>
                </a:solidFill>
                <a:latin typeface="Times New Roman" panose="02020603050405020304" pitchFamily="18" charset="0"/>
                <a:cs typeface="Times New Roman" panose="02020603050405020304" pitchFamily="18" charset="0"/>
              </a:rPr>
              <a:t>RESEARCH SEMINAR</a:t>
            </a:r>
          </a:p>
        </p:txBody>
      </p:sp>
      <p:sp>
        <p:nvSpPr>
          <p:cNvPr id="10" name="TextBox 9">
            <a:extLst>
              <a:ext uri="{FF2B5EF4-FFF2-40B4-BE49-F238E27FC236}">
                <a16:creationId xmlns:a16="http://schemas.microsoft.com/office/drawing/2014/main" id="{EC83FF07-77C2-59A1-A0D0-712AC492F405}"/>
              </a:ext>
            </a:extLst>
          </p:cNvPr>
          <p:cNvSpPr txBox="1"/>
          <p:nvPr/>
        </p:nvSpPr>
        <p:spPr>
          <a:xfrm>
            <a:off x="5271739" y="1508106"/>
            <a:ext cx="6239106" cy="369332"/>
          </a:xfrm>
          <a:prstGeom prst="rect">
            <a:avLst/>
          </a:prstGeom>
          <a:noFill/>
        </p:spPr>
        <p:txBody>
          <a:bodyPr wrap="square">
            <a:spAutoFit/>
          </a:bodyPr>
          <a:lstStyle/>
          <a:p>
            <a:r>
              <a:rPr lang="en-IN" b="1" dirty="0">
                <a:solidFill>
                  <a:schemeClr val="bg1"/>
                </a:solidFill>
                <a:latin typeface="Times New Roman" panose="02020603050405020304" pitchFamily="18" charset="0"/>
                <a:cs typeface="Times New Roman" panose="02020603050405020304" pitchFamily="18" charset="0"/>
              </a:rPr>
              <a:t>22MCA4SRRS</a:t>
            </a:r>
            <a:r>
              <a:rPr lang="en-IN" b="1" dirty="0">
                <a:solidFill>
                  <a:schemeClr val="bg1"/>
                </a:solidFill>
              </a:rPr>
              <a:t> </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909320" y="240372"/>
            <a:ext cx="6787747" cy="1593507"/>
          </a:xfrm>
        </p:spPr>
        <p:txBody>
          <a:bodyPr/>
          <a:lstStyle/>
          <a:p>
            <a:r>
              <a:rPr lang="en-US" dirty="0">
                <a:latin typeface="Times New Roman" panose="02020603050405020304" pitchFamily="18" charset="0"/>
                <a:cs typeface="Times New Roman" panose="02020603050405020304" pitchFamily="18" charset="0"/>
              </a:rPr>
              <a:t>AGENDA</a:t>
            </a:r>
          </a:p>
        </p:txBody>
      </p:sp>
      <p:sp>
        <p:nvSpPr>
          <p:cNvPr id="3" name="Text Placeholder 2">
            <a:extLst>
              <a:ext uri="{FF2B5EF4-FFF2-40B4-BE49-F238E27FC236}">
                <a16:creationId xmlns:a16="http://schemas.microsoft.com/office/drawing/2014/main" id="{3B8EBC2C-6DD7-5003-38EB-40753046FE8C}"/>
              </a:ext>
            </a:extLst>
          </p:cNvPr>
          <p:cNvSpPr>
            <a:spLocks noGrp="1"/>
          </p:cNvSpPr>
          <p:nvPr>
            <p:ph sz="quarter" idx="13"/>
          </p:nvPr>
        </p:nvSpPr>
        <p:spPr>
          <a:xfrm>
            <a:off x="593724" y="1930400"/>
            <a:ext cx="7859395" cy="4927600"/>
          </a:xfrm>
        </p:spPr>
        <p:txBody>
          <a:bodyPr tIns="457200">
            <a:normAutofit fontScale="62500" lnSpcReduction="20000"/>
          </a:bodyPr>
          <a:lstStyle/>
          <a:p>
            <a:r>
              <a:rPr lang="en-US" dirty="0">
                <a:latin typeface="Times New Roman" panose="02020603050405020304" pitchFamily="18" charset="0"/>
                <a:cs typeface="Times New Roman" panose="02020603050405020304" pitchFamily="18" charset="0"/>
              </a:rPr>
              <a:t>ABSTRACT</a:t>
            </a:r>
          </a:p>
          <a:p>
            <a:r>
              <a:rPr lang="en-US" dirty="0">
                <a:latin typeface="Times New Roman" panose="02020603050405020304" pitchFamily="18" charset="0"/>
                <a:cs typeface="Times New Roman" panose="02020603050405020304" pitchFamily="18" charset="0"/>
              </a:rPr>
              <a:t>INTRODUCTION</a:t>
            </a:r>
          </a:p>
          <a:p>
            <a:r>
              <a:rPr lang="en-US" dirty="0">
                <a:latin typeface="Times New Roman" panose="02020603050405020304" pitchFamily="18" charset="0"/>
                <a:cs typeface="Times New Roman" panose="02020603050405020304" pitchFamily="18" charset="0"/>
              </a:rPr>
              <a:t>LITERATURE SURVEY </a:t>
            </a:r>
          </a:p>
          <a:p>
            <a:r>
              <a:rPr lang="en-US" dirty="0">
                <a:latin typeface="Times New Roman" panose="02020603050405020304" pitchFamily="18" charset="0"/>
                <a:cs typeface="Times New Roman" panose="02020603050405020304" pitchFamily="18" charset="0"/>
              </a:rPr>
              <a:t>RESEARCH GAPS</a:t>
            </a:r>
          </a:p>
          <a:p>
            <a:r>
              <a:rPr lang="en-US" dirty="0">
                <a:latin typeface="Times New Roman" panose="02020603050405020304" pitchFamily="18" charset="0"/>
                <a:cs typeface="Times New Roman" panose="02020603050405020304" pitchFamily="18" charset="0"/>
              </a:rPr>
              <a:t>OBJECTIVES OF INVESTIGATION</a:t>
            </a:r>
          </a:p>
          <a:p>
            <a:r>
              <a:rPr lang="en-US" dirty="0">
                <a:latin typeface="Times New Roman" panose="02020603050405020304" pitchFamily="18" charset="0"/>
                <a:cs typeface="Times New Roman" panose="02020603050405020304" pitchFamily="18" charset="0"/>
              </a:rPr>
              <a:t>DATASET</a:t>
            </a:r>
          </a:p>
          <a:p>
            <a:r>
              <a:rPr lang="en-US" dirty="0">
                <a:latin typeface="Times New Roman" panose="02020603050405020304" pitchFamily="18" charset="0"/>
                <a:cs typeface="Times New Roman" panose="02020603050405020304" pitchFamily="18" charset="0"/>
              </a:rPr>
              <a:t>PROPOSED SYSTEM</a:t>
            </a:r>
          </a:p>
          <a:p>
            <a:r>
              <a:rPr lang="en-US" dirty="0">
                <a:latin typeface="Times New Roman" panose="02020603050405020304" pitchFamily="18" charset="0"/>
                <a:cs typeface="Times New Roman" panose="02020603050405020304" pitchFamily="18" charset="0"/>
              </a:rPr>
              <a:t>VALIDATION</a:t>
            </a:r>
          </a:p>
          <a:p>
            <a:r>
              <a:rPr lang="en-US" dirty="0">
                <a:latin typeface="Times New Roman" panose="02020603050405020304" pitchFamily="18" charset="0"/>
                <a:cs typeface="Times New Roman" panose="02020603050405020304" pitchFamily="18" charset="0"/>
              </a:rPr>
              <a:t>CONCLUSION </a:t>
            </a:r>
          </a:p>
          <a:p>
            <a:r>
              <a:rPr lang="en-US" dirty="0">
                <a:latin typeface="Times New Roman" panose="02020603050405020304" pitchFamily="18" charset="0"/>
                <a:cs typeface="Times New Roman" panose="02020603050405020304" pitchFamily="18" charset="0"/>
              </a:rPr>
              <a:t>FUTURE ENHANCEMENTS</a:t>
            </a:r>
          </a:p>
          <a:p>
            <a:r>
              <a:rPr lang="en-US" dirty="0">
                <a:latin typeface="Times New Roman" panose="02020603050405020304" pitchFamily="18" charset="0"/>
                <a:cs typeface="Times New Roman" panose="02020603050405020304" pitchFamily="18" charset="0"/>
              </a:rPr>
              <a:t>BIBLIOGRAPHY</a:t>
            </a:r>
          </a:p>
        </p:txBody>
      </p:sp>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B4321-B149-44B1-1483-1EC940C036E3}"/>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BD95842E-401B-9FDC-6BE0-E2C541514B04}"/>
              </a:ext>
            </a:extLst>
          </p:cNvPr>
          <p:cNvSpPr>
            <a:spLocks noGrp="1"/>
          </p:cNvSpPr>
          <p:nvPr>
            <p:ph sz="quarter" idx="13"/>
          </p:nvPr>
        </p:nvSpPr>
        <p:spPr>
          <a:xfrm>
            <a:off x="594359" y="2281918"/>
            <a:ext cx="8600441" cy="4494802"/>
          </a:xfrm>
        </p:spPr>
        <p:txBody>
          <a:bodyPr>
            <a:normAutofit fontScale="77500" lnSpcReduction="20000"/>
          </a:bodyPr>
          <a:lstStyle/>
          <a:p>
            <a:pPr algn="just"/>
            <a:r>
              <a:rPr lang="en-US" b="0" dirty="0">
                <a:latin typeface="Times New Roman" panose="02020603050405020304" pitchFamily="18" charset="0"/>
                <a:cs typeface="Times New Roman" panose="02020603050405020304" pitchFamily="18" charset="0"/>
              </a:rPr>
              <a:t>Rising health awareness has increased the need for accurate calorie tracking.</a:t>
            </a:r>
          </a:p>
          <a:p>
            <a:pPr algn="just"/>
            <a:r>
              <a:rPr lang="en-US" b="0" dirty="0">
                <a:latin typeface="Times New Roman" panose="02020603050405020304" pitchFamily="18" charset="0"/>
                <a:cs typeface="Times New Roman" panose="02020603050405020304" pitchFamily="18" charset="0"/>
              </a:rPr>
              <a:t>Manual calorie counting is often confusing and time-consuming.</a:t>
            </a:r>
          </a:p>
          <a:p>
            <a:pPr algn="just"/>
            <a:r>
              <a:rPr lang="en-US" b="0" dirty="0">
                <a:latin typeface="Times New Roman" panose="02020603050405020304" pitchFamily="18" charset="0"/>
                <a:cs typeface="Times New Roman" panose="02020603050405020304" pitchFamily="18" charset="0"/>
              </a:rPr>
              <a:t>This project introduces an intelligent system that allows users to capture an image of their meal.</a:t>
            </a:r>
          </a:p>
          <a:p>
            <a:pPr algn="just"/>
            <a:r>
              <a:rPr lang="en-US" b="0" dirty="0">
                <a:latin typeface="Times New Roman" panose="02020603050405020304" pitchFamily="18" charset="0"/>
                <a:cs typeface="Times New Roman" panose="02020603050405020304" pitchFamily="18" charset="0"/>
              </a:rPr>
              <a:t>The system performs real-time food detection using YOLOv8 and estimates calories.</a:t>
            </a:r>
          </a:p>
          <a:p>
            <a:pPr algn="just"/>
            <a:r>
              <a:rPr lang="en-US" b="0" dirty="0">
                <a:latin typeface="Times New Roman" panose="02020603050405020304" pitchFamily="18" charset="0"/>
                <a:cs typeface="Times New Roman" panose="02020603050405020304" pitchFamily="18" charset="0"/>
              </a:rPr>
              <a:t>Calorie values are adjusted contextually using Natural Language Processing (NLP).</a:t>
            </a:r>
          </a:p>
          <a:p>
            <a:pPr algn="just"/>
            <a:r>
              <a:rPr lang="en-US" b="0" dirty="0">
                <a:latin typeface="Times New Roman" panose="02020603050405020304" pitchFamily="18" charset="0"/>
                <a:cs typeface="Times New Roman" panose="02020603050405020304" pitchFamily="18" charset="0"/>
              </a:rPr>
              <a:t>Enables better food choices and helps in diet, fitness, and health management.</a:t>
            </a:r>
          </a:p>
          <a:p>
            <a:pPr algn="just"/>
            <a:r>
              <a:rPr lang="en-US" b="0" dirty="0">
                <a:latin typeface="Times New Roman" panose="02020603050405020304" pitchFamily="18" charset="0"/>
                <a:cs typeface="Times New Roman" panose="02020603050405020304" pitchFamily="18" charset="0"/>
              </a:rPr>
              <a:t>Ideal for users who want to eat healthy, maintain weight, or monitor intake effortlessly.</a:t>
            </a:r>
          </a:p>
          <a:p>
            <a:pPr algn="just"/>
            <a:r>
              <a:rPr lang="en-IN" i="1" dirty="0">
                <a:latin typeface="Times New Roman" panose="02020603050405020304" pitchFamily="18" charset="0"/>
                <a:cs typeface="Times New Roman" panose="02020603050405020304" pitchFamily="18" charset="0"/>
              </a:rPr>
              <a:t>Keywords: </a:t>
            </a:r>
            <a:r>
              <a:rPr lang="en-IN" dirty="0">
                <a:latin typeface="Times New Roman" panose="02020603050405020304" pitchFamily="18" charset="0"/>
                <a:cs typeface="Times New Roman" panose="02020603050405020304" pitchFamily="18" charset="0"/>
              </a:rPr>
              <a:t>Calorie Estimation, YOLOv8, NLP,  Food Image Analysis, Object Detection, Health Monitoring, Deep Learning, Dietary Management</a:t>
            </a:r>
          </a:p>
          <a:p>
            <a:pPr algn="just"/>
            <a:endParaRPr lang="en-US" b="0" dirty="0">
              <a:latin typeface="Times New Roman" panose="02020603050405020304" pitchFamily="18" charset="0"/>
              <a:cs typeface="Times New Roman" panose="02020603050405020304" pitchFamily="18" charset="0"/>
            </a:endParaRPr>
          </a:p>
          <a:p>
            <a:pPr algn="just"/>
            <a:endParaRPr lang="en-US" b="0" dirty="0">
              <a:latin typeface="Times New Roman" panose="02020603050405020304" pitchFamily="18" charset="0"/>
              <a:cs typeface="Times New Roman" panose="02020603050405020304" pitchFamily="18" charset="0"/>
            </a:endParaRPr>
          </a:p>
          <a:p>
            <a:pPr algn="just"/>
            <a:endParaRPr lang="en-IN"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5421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2C24B-25D3-1626-430D-FAA5E5A665FC}"/>
              </a:ext>
            </a:extLst>
          </p:cNvPr>
          <p:cNvSpPr>
            <a:spLocks noGrp="1"/>
          </p:cNvSpPr>
          <p:nvPr>
            <p:ph type="title"/>
          </p:nvPr>
        </p:nvSpPr>
        <p:spPr>
          <a:xfrm>
            <a:off x="502920" y="961733"/>
            <a:ext cx="10175240" cy="856908"/>
          </a:xfrm>
        </p:spPr>
        <p:txBody>
          <a:bodyPr/>
          <a:lstStyle/>
          <a:p>
            <a:r>
              <a:rPr lang="en-IN" sz="3200" dirty="0">
                <a:latin typeface="Times New Roman" panose="02020603050405020304" pitchFamily="18" charset="0"/>
                <a:cs typeface="Times New Roman" panose="02020603050405020304" pitchFamily="18" charset="0"/>
              </a:rPr>
              <a:t>INTRODUCTION</a:t>
            </a:r>
            <a:endParaRPr lang="en-IN" sz="3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65F7CA7-D448-87CE-7C0A-1CDF5B1064A6}"/>
              </a:ext>
            </a:extLst>
          </p:cNvPr>
          <p:cNvSpPr>
            <a:spLocks noGrp="1"/>
          </p:cNvSpPr>
          <p:nvPr>
            <p:ph sz="quarter" idx="13"/>
          </p:nvPr>
        </p:nvSpPr>
        <p:spPr>
          <a:xfrm>
            <a:off x="320039" y="2042160"/>
            <a:ext cx="8620761" cy="4785360"/>
          </a:xfrm>
        </p:spPr>
        <p:txBody>
          <a:bodyPr>
            <a:normAutofit/>
          </a:bodyPr>
          <a:lstStyle/>
          <a:p>
            <a:pPr algn="just"/>
            <a:r>
              <a:rPr lang="en-US" sz="1800" b="0" dirty="0">
                <a:latin typeface="Times New Roman" panose="02020603050405020304" pitchFamily="18" charset="0"/>
                <a:cs typeface="Times New Roman" panose="02020603050405020304" pitchFamily="18" charset="0"/>
              </a:rPr>
              <a:t>Increasing health concerns have made calorie awareness a necessity in everyday life.</a:t>
            </a:r>
          </a:p>
          <a:p>
            <a:pPr algn="just"/>
            <a:r>
              <a:rPr lang="en-US" sz="1800" b="0" dirty="0">
                <a:latin typeface="Times New Roman" panose="02020603050405020304" pitchFamily="18" charset="0"/>
                <a:cs typeface="Times New Roman" panose="02020603050405020304" pitchFamily="18" charset="0"/>
              </a:rPr>
              <a:t>Manual methods of tracking calorie intake are time-consuming and often inaccurate.</a:t>
            </a:r>
          </a:p>
          <a:p>
            <a:pPr algn="just"/>
            <a:r>
              <a:rPr lang="en-US" sz="1800" b="0" dirty="0">
                <a:latin typeface="Times New Roman" panose="02020603050405020304" pitchFamily="18" charset="0"/>
                <a:cs typeface="Times New Roman" panose="02020603050405020304" pitchFamily="18" charset="0"/>
              </a:rPr>
              <a:t>There is a growing demand for intelligent, automated calorie estimation tools.</a:t>
            </a:r>
          </a:p>
          <a:p>
            <a:pPr algn="just"/>
            <a:r>
              <a:rPr lang="en-US" sz="1800" b="0" dirty="0">
                <a:latin typeface="Times New Roman" panose="02020603050405020304" pitchFamily="18" charset="0"/>
                <a:cs typeface="Times New Roman" panose="02020603050405020304" pitchFamily="18" charset="0"/>
              </a:rPr>
              <a:t>This project aims to build an AI-based system that detects food items from an image using YOLOv8.</a:t>
            </a:r>
          </a:p>
          <a:p>
            <a:pPr algn="just"/>
            <a:r>
              <a:rPr lang="en-US" sz="1800" b="0" dirty="0">
                <a:latin typeface="Times New Roman" panose="02020603050405020304" pitchFamily="18" charset="0"/>
                <a:cs typeface="Times New Roman" panose="02020603050405020304" pitchFamily="18" charset="0"/>
              </a:rPr>
              <a:t>Uses Natural Language Processing (NLP) to understand user descriptions (e.g., “butter dosa from hotel”).</a:t>
            </a:r>
          </a:p>
          <a:p>
            <a:pPr algn="just"/>
            <a:r>
              <a:rPr lang="en-US" sz="1800" b="0" dirty="0">
                <a:latin typeface="Times New Roman" panose="02020603050405020304" pitchFamily="18" charset="0"/>
                <a:cs typeface="Times New Roman" panose="02020603050405020304" pitchFamily="18" charset="0"/>
              </a:rPr>
              <a:t>Calculates and adjusts calorie values based on visual and contextual inputs.</a:t>
            </a:r>
            <a:endParaRPr lang="en-IN" sz="18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4671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36872-669D-A598-3F55-24EE410A0976}"/>
              </a:ext>
            </a:extLst>
          </p:cNvPr>
          <p:cNvSpPr>
            <a:spLocks noGrp="1"/>
          </p:cNvSpPr>
          <p:nvPr>
            <p:ph type="title"/>
          </p:nvPr>
        </p:nvSpPr>
        <p:spPr>
          <a:xfrm>
            <a:off x="594360" y="0"/>
            <a:ext cx="10972800" cy="489961"/>
          </a:xfrm>
        </p:spPr>
        <p:txBody>
          <a:bodyPr/>
          <a:lstStyle/>
          <a:p>
            <a:r>
              <a:rPr lang="en-IN" sz="3000" dirty="0">
                <a:latin typeface="Times New Roman" panose="02020603050405020304" pitchFamily="18" charset="0"/>
                <a:cs typeface="Times New Roman" panose="02020603050405020304" pitchFamily="18" charset="0"/>
              </a:rPr>
              <a:t> LITERATURE SURVEY</a:t>
            </a:r>
          </a:p>
        </p:txBody>
      </p:sp>
      <p:sp>
        <p:nvSpPr>
          <p:cNvPr id="3" name="Content Placeholder 2">
            <a:extLst>
              <a:ext uri="{FF2B5EF4-FFF2-40B4-BE49-F238E27FC236}">
                <a16:creationId xmlns:a16="http://schemas.microsoft.com/office/drawing/2014/main" id="{EC453311-7DEA-E04B-AEDE-4F8144879BC4}"/>
              </a:ext>
            </a:extLst>
          </p:cNvPr>
          <p:cNvSpPr>
            <a:spLocks noGrp="1"/>
          </p:cNvSpPr>
          <p:nvPr>
            <p:ph sz="quarter" idx="13"/>
          </p:nvPr>
        </p:nvSpPr>
        <p:spPr>
          <a:xfrm>
            <a:off x="318499" y="801384"/>
            <a:ext cx="6023774" cy="5472611"/>
          </a:xfrm>
        </p:spPr>
        <p:txBody>
          <a:bodyPr>
            <a:normAutofit/>
          </a:bodyPr>
          <a:lstStyle/>
          <a:p>
            <a:pPr marL="342900" indent="-342900" algn="just">
              <a:lnSpc>
                <a:spcPct val="100000"/>
              </a:lnSpc>
              <a:buAutoNum type="arabicPeriod"/>
            </a:pPr>
            <a:r>
              <a:rPr lang="en-US" sz="1800" b="1" dirty="0">
                <a:solidFill>
                  <a:schemeClr val="tx2">
                    <a:lumMod val="75000"/>
                  </a:schemeClr>
                </a:solidFill>
                <a:latin typeface="Times New Roman" panose="02020603050405020304" pitchFamily="18" charset="0"/>
                <a:cs typeface="Times New Roman" panose="02020603050405020304" pitchFamily="18" charset="0"/>
              </a:rPr>
              <a:t>“</a:t>
            </a:r>
            <a:r>
              <a:rPr lang="en-US" sz="1800" b="1" u="sng" dirty="0">
                <a:solidFill>
                  <a:schemeClr val="tx2">
                    <a:lumMod val="75000"/>
                  </a:schemeClr>
                </a:solidFill>
                <a:latin typeface="Times New Roman" panose="02020603050405020304" pitchFamily="18" charset="0"/>
                <a:cs typeface="Times New Roman" panose="02020603050405020304" pitchFamily="18" charset="0"/>
              </a:rPr>
              <a:t>Lightweight Food Image Recognition Algorithm Based on YOLOv8” – </a:t>
            </a:r>
            <a:r>
              <a:rPr lang="en-US" sz="1800" b="1" u="sng" dirty="0" err="1">
                <a:solidFill>
                  <a:schemeClr val="tx2">
                    <a:lumMod val="75000"/>
                  </a:schemeClr>
                </a:solidFill>
                <a:latin typeface="Times New Roman" panose="02020603050405020304" pitchFamily="18" charset="0"/>
                <a:cs typeface="Times New Roman" panose="02020603050405020304" pitchFamily="18" charset="0"/>
              </a:rPr>
              <a:t>Zaoqing</a:t>
            </a:r>
            <a:r>
              <a:rPr lang="en-US" sz="1800" b="1" u="sng" dirty="0">
                <a:solidFill>
                  <a:schemeClr val="tx2">
                    <a:lumMod val="75000"/>
                  </a:schemeClr>
                </a:solidFill>
                <a:latin typeface="Times New Roman" panose="02020603050405020304" pitchFamily="18" charset="0"/>
                <a:cs typeface="Times New Roman" panose="02020603050405020304" pitchFamily="18" charset="0"/>
              </a:rPr>
              <a:t> Liang, </a:t>
            </a:r>
            <a:r>
              <a:rPr lang="en-US" sz="1800" b="1" u="sng" dirty="0" err="1">
                <a:solidFill>
                  <a:schemeClr val="tx2">
                    <a:lumMod val="75000"/>
                  </a:schemeClr>
                </a:solidFill>
                <a:latin typeface="Times New Roman" panose="02020603050405020304" pitchFamily="18" charset="0"/>
                <a:cs typeface="Times New Roman" panose="02020603050405020304" pitchFamily="18" charset="0"/>
              </a:rPr>
              <a:t>Haoqi</a:t>
            </a:r>
            <a:r>
              <a:rPr lang="en-US" sz="1800" b="1" u="sng" dirty="0">
                <a:solidFill>
                  <a:schemeClr val="tx2">
                    <a:lumMod val="75000"/>
                  </a:schemeClr>
                </a:solidFill>
                <a:latin typeface="Times New Roman" panose="02020603050405020304" pitchFamily="18" charset="0"/>
                <a:cs typeface="Times New Roman" panose="02020603050405020304" pitchFamily="18" charset="0"/>
              </a:rPr>
              <a:t> Chen, </a:t>
            </a:r>
            <a:r>
              <a:rPr lang="en-US" sz="1800" b="1" u="sng" dirty="0" err="1">
                <a:solidFill>
                  <a:schemeClr val="tx2">
                    <a:lumMod val="75000"/>
                  </a:schemeClr>
                </a:solidFill>
                <a:latin typeface="Times New Roman" panose="02020603050405020304" pitchFamily="18" charset="0"/>
                <a:cs typeface="Times New Roman" panose="02020603050405020304" pitchFamily="18" charset="0"/>
              </a:rPr>
              <a:t>Chenfei</a:t>
            </a:r>
            <a:r>
              <a:rPr lang="en-US" sz="1800" b="1" u="sng" dirty="0">
                <a:solidFill>
                  <a:schemeClr val="tx2">
                    <a:lumMod val="75000"/>
                  </a:schemeClr>
                </a:solidFill>
                <a:latin typeface="Times New Roman" panose="02020603050405020304" pitchFamily="18" charset="0"/>
                <a:cs typeface="Times New Roman" panose="02020603050405020304" pitchFamily="18" charset="0"/>
              </a:rPr>
              <a:t> Ning, </a:t>
            </a:r>
            <a:r>
              <a:rPr lang="en-US" sz="1800" b="1" u="sng" dirty="0" err="1">
                <a:solidFill>
                  <a:schemeClr val="tx2">
                    <a:lumMod val="75000"/>
                  </a:schemeClr>
                </a:solidFill>
                <a:latin typeface="Times New Roman" panose="02020603050405020304" pitchFamily="18" charset="0"/>
                <a:cs typeface="Times New Roman" panose="02020603050405020304" pitchFamily="18" charset="0"/>
              </a:rPr>
              <a:t>Wenbao</a:t>
            </a:r>
            <a:r>
              <a:rPr lang="en-US" sz="1800" b="1" u="sng" dirty="0">
                <a:solidFill>
                  <a:schemeClr val="tx2">
                    <a:lumMod val="75000"/>
                  </a:schemeClr>
                </a:solidFill>
                <a:latin typeface="Times New Roman" panose="02020603050405020304" pitchFamily="18" charset="0"/>
                <a:cs typeface="Times New Roman" panose="02020603050405020304" pitchFamily="18" charset="0"/>
              </a:rPr>
              <a:t> Wang, Xiaomin Fang (</a:t>
            </a:r>
            <a:r>
              <a:rPr lang="en-US" sz="1800" b="1" u="sng" dirty="0" err="1">
                <a:solidFill>
                  <a:schemeClr val="tx2">
                    <a:lumMod val="75000"/>
                  </a:schemeClr>
                </a:solidFill>
                <a:latin typeface="Times New Roman" panose="02020603050405020304" pitchFamily="18" charset="0"/>
                <a:cs typeface="Times New Roman" panose="02020603050405020304" pitchFamily="18" charset="0"/>
              </a:rPr>
              <a:t>ISCTech</a:t>
            </a:r>
            <a:r>
              <a:rPr lang="en-US" sz="1800" b="1" u="sng" dirty="0">
                <a:solidFill>
                  <a:schemeClr val="tx2">
                    <a:lumMod val="75000"/>
                  </a:schemeClr>
                </a:solidFill>
                <a:latin typeface="Times New Roman" panose="02020603050405020304" pitchFamily="18" charset="0"/>
                <a:cs typeface="Times New Roman" panose="02020603050405020304" pitchFamily="18" charset="0"/>
              </a:rPr>
              <a:t> 2024)</a:t>
            </a:r>
          </a:p>
          <a:p>
            <a:pPr marL="285750" indent="-285750" algn="just">
              <a:lnSpc>
                <a:spcPct val="100000"/>
              </a:lnSpc>
              <a:buFont typeface="Arial" panose="020B0604020202020204" pitchFamily="34" charset="0"/>
              <a:buChar char="•"/>
            </a:pPr>
            <a:r>
              <a:rPr lang="en-US" sz="1800" dirty="0">
                <a:solidFill>
                  <a:schemeClr val="tx2">
                    <a:lumMod val="75000"/>
                  </a:schemeClr>
                </a:solidFill>
                <a:latin typeface="Times New Roman" panose="02020603050405020304" pitchFamily="18" charset="0"/>
                <a:cs typeface="Times New Roman" panose="02020603050405020304" pitchFamily="18" charset="0"/>
              </a:rPr>
              <a:t>Proposed a lightweight, fast food detection model for real-time mobile/edge use.</a:t>
            </a:r>
          </a:p>
          <a:p>
            <a:pPr marL="285750" indent="-285750" algn="just">
              <a:lnSpc>
                <a:spcPct val="100000"/>
              </a:lnSpc>
              <a:buFont typeface="Arial" panose="020B0604020202020204" pitchFamily="34" charset="0"/>
              <a:buChar char="•"/>
            </a:pPr>
            <a:r>
              <a:rPr lang="en-US" sz="1800" dirty="0">
                <a:solidFill>
                  <a:schemeClr val="tx2">
                    <a:lumMod val="75000"/>
                  </a:schemeClr>
                </a:solidFill>
                <a:latin typeface="Times New Roman" panose="02020603050405020304" pitchFamily="18" charset="0"/>
                <a:cs typeface="Times New Roman" panose="02020603050405020304" pitchFamily="18" charset="0"/>
              </a:rPr>
              <a:t>Used YOLOv8n as base; applied </a:t>
            </a:r>
            <a:r>
              <a:rPr lang="en-US" sz="1800" dirty="0" err="1">
                <a:solidFill>
                  <a:schemeClr val="tx2">
                    <a:lumMod val="75000"/>
                  </a:schemeClr>
                </a:solidFill>
                <a:latin typeface="Times New Roman" panose="02020603050405020304" pitchFamily="18" charset="0"/>
                <a:cs typeface="Times New Roman" panose="02020603050405020304" pitchFamily="18" charset="0"/>
              </a:rPr>
              <a:t>GhostModule</a:t>
            </a:r>
            <a:r>
              <a:rPr lang="en-US" sz="1800" dirty="0">
                <a:solidFill>
                  <a:schemeClr val="tx2">
                    <a:lumMod val="75000"/>
                  </a:schemeClr>
                </a:solidFill>
                <a:latin typeface="Times New Roman" panose="02020603050405020304" pitchFamily="18" charset="0"/>
                <a:cs typeface="Times New Roman" panose="02020603050405020304" pitchFamily="18" charset="0"/>
              </a:rPr>
              <a:t> (GM) + CBAM attention..</a:t>
            </a:r>
          </a:p>
          <a:p>
            <a:pPr marL="285750" indent="-285750" algn="just">
              <a:lnSpc>
                <a:spcPct val="100000"/>
              </a:lnSpc>
              <a:buFont typeface="Arial" panose="020B0604020202020204" pitchFamily="34" charset="0"/>
              <a:buChar char="•"/>
            </a:pPr>
            <a:r>
              <a:rPr lang="en-US" sz="1800" dirty="0">
                <a:solidFill>
                  <a:schemeClr val="tx2">
                    <a:lumMod val="75000"/>
                  </a:schemeClr>
                </a:solidFill>
                <a:latin typeface="Times New Roman" panose="02020603050405020304" pitchFamily="18" charset="0"/>
                <a:cs typeface="Times New Roman" panose="02020603050405020304" pitchFamily="18" charset="0"/>
              </a:rPr>
              <a:t>Removed small-object head to reduce overfitting &amp; save computation.</a:t>
            </a:r>
          </a:p>
          <a:p>
            <a:pPr marL="285750" indent="-285750" algn="just">
              <a:lnSpc>
                <a:spcPct val="100000"/>
              </a:lnSpc>
              <a:buFont typeface="Arial" panose="020B0604020202020204" pitchFamily="34" charset="0"/>
              <a:buChar char="•"/>
            </a:pPr>
            <a:r>
              <a:rPr lang="en-US" sz="1800" dirty="0">
                <a:solidFill>
                  <a:schemeClr val="tx2">
                    <a:lumMod val="75000"/>
                  </a:schemeClr>
                </a:solidFill>
                <a:latin typeface="Times New Roman" panose="02020603050405020304" pitchFamily="18" charset="0"/>
                <a:cs typeface="Times New Roman" panose="02020603050405020304" pitchFamily="18" charset="0"/>
              </a:rPr>
              <a:t>Achieved 91.4% mAP@0.5, reduced GFLOPs to 6.0.</a:t>
            </a:r>
          </a:p>
          <a:p>
            <a:pPr marL="285750" indent="-285750" algn="just">
              <a:lnSpc>
                <a:spcPct val="100000"/>
              </a:lnSpc>
              <a:buFont typeface="Arial" panose="020B0604020202020204" pitchFamily="34" charset="0"/>
              <a:buChar char="•"/>
            </a:pPr>
            <a:r>
              <a:rPr lang="en-US" sz="1800" dirty="0">
                <a:solidFill>
                  <a:schemeClr val="tx2">
                    <a:lumMod val="75000"/>
                  </a:schemeClr>
                </a:solidFill>
                <a:latin typeface="Times New Roman" panose="02020603050405020304" pitchFamily="18" charset="0"/>
                <a:cs typeface="Times New Roman" panose="02020603050405020304" pitchFamily="18" charset="0"/>
              </a:rPr>
              <a:t>Outperformed YOLOv5, YOLOv7, Fast R-CNN.</a:t>
            </a:r>
          </a:p>
          <a:p>
            <a:pPr marL="285750" indent="-285750" algn="just">
              <a:lnSpc>
                <a:spcPct val="100000"/>
              </a:lnSpc>
              <a:buFont typeface="Arial" panose="020B0604020202020204" pitchFamily="34" charset="0"/>
              <a:buChar char="•"/>
            </a:pPr>
            <a:r>
              <a:rPr lang="en-US" sz="1800" dirty="0">
                <a:solidFill>
                  <a:schemeClr val="tx2">
                    <a:lumMod val="75000"/>
                  </a:schemeClr>
                </a:solidFill>
                <a:latin typeface="Times New Roman" panose="02020603050405020304" pitchFamily="18" charset="0"/>
                <a:cs typeface="Times New Roman" panose="02020603050405020304" pitchFamily="18" charset="0"/>
              </a:rPr>
              <a:t>Tech: YOLOv8, UEC Food-100 dataset (30 classes).</a:t>
            </a:r>
          </a:p>
          <a:p>
            <a:pPr marL="285750" indent="-285750" algn="just">
              <a:lnSpc>
                <a:spcPct val="100000"/>
              </a:lnSpc>
              <a:buFont typeface="Arial" panose="020B0604020202020204" pitchFamily="34" charset="0"/>
              <a:buChar char="•"/>
            </a:pPr>
            <a:r>
              <a:rPr lang="en-US" sz="1800" dirty="0">
                <a:solidFill>
                  <a:schemeClr val="tx2">
                    <a:lumMod val="75000"/>
                  </a:schemeClr>
                </a:solidFill>
                <a:latin typeface="Times New Roman" panose="02020603050405020304" pitchFamily="18" charset="0"/>
                <a:cs typeface="Times New Roman" panose="02020603050405020304" pitchFamily="18" charset="0"/>
              </a:rPr>
              <a:t>Limitation: No calorie estimation, no user context</a:t>
            </a:r>
            <a:endParaRPr lang="en-US" sz="1800" b="0" dirty="0">
              <a:solidFill>
                <a:schemeClr val="tx2">
                  <a:lumMod val="75000"/>
                </a:schemeClr>
              </a:solidFill>
              <a:latin typeface="Times New Roman" panose="02020603050405020304" pitchFamily="18" charset="0"/>
              <a:cs typeface="Times New Roman" panose="02020603050405020304" pitchFamily="18" charset="0"/>
            </a:endParaRPr>
          </a:p>
          <a:p>
            <a:pPr algn="just">
              <a:lnSpc>
                <a:spcPct val="100000"/>
              </a:lnSpc>
            </a:pPr>
            <a:endParaRPr lang="en-US" sz="1800" b="0" dirty="0">
              <a:latin typeface="Times New Roman" panose="02020603050405020304" pitchFamily="18" charset="0"/>
              <a:cs typeface="Times New Roman" panose="02020603050405020304" pitchFamily="18" charset="0"/>
            </a:endParaRPr>
          </a:p>
          <a:p>
            <a:pPr algn="just">
              <a:lnSpc>
                <a:spcPct val="100000"/>
              </a:lnSpc>
            </a:pPr>
            <a:endParaRPr lang="en-US" sz="1800" b="0" dirty="0">
              <a:latin typeface="Times New Roman" panose="02020603050405020304" pitchFamily="18"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5ACC7327-FB71-4FBF-8B67-B34403525555}"/>
              </a:ext>
            </a:extLst>
          </p:cNvPr>
          <p:cNvSpPr>
            <a:spLocks noGrp="1"/>
          </p:cNvSpPr>
          <p:nvPr>
            <p:ph sz="quarter" idx="14"/>
          </p:nvPr>
        </p:nvSpPr>
        <p:spPr>
          <a:xfrm>
            <a:off x="6657654" y="801384"/>
            <a:ext cx="4909506" cy="5889348"/>
          </a:xfrm>
        </p:spPr>
        <p:txBody>
          <a:bodyPr>
            <a:normAutofit/>
          </a:bodyPr>
          <a:lstStyle/>
          <a:p>
            <a:pPr marL="0" indent="0" algn="just">
              <a:lnSpc>
                <a:spcPct val="100000"/>
              </a:lnSpc>
              <a:buNone/>
            </a:pPr>
            <a:r>
              <a:rPr lang="en-US" sz="1800" b="1" dirty="0">
                <a:solidFill>
                  <a:schemeClr val="tx2">
                    <a:lumMod val="75000"/>
                  </a:schemeClr>
                </a:solidFill>
                <a:latin typeface="Times New Roman" panose="02020603050405020304" pitchFamily="18" charset="0"/>
                <a:cs typeface="Times New Roman" panose="02020603050405020304" pitchFamily="18" charset="0"/>
              </a:rPr>
              <a:t>2. </a:t>
            </a:r>
            <a:r>
              <a:rPr lang="en-US" sz="1800" b="1" u="sng" dirty="0">
                <a:solidFill>
                  <a:schemeClr val="tx2">
                    <a:lumMod val="75000"/>
                  </a:schemeClr>
                </a:solidFill>
                <a:latin typeface="Times New Roman" panose="02020603050405020304" pitchFamily="18" charset="0"/>
                <a:cs typeface="Times New Roman" panose="02020603050405020304" pitchFamily="18" charset="0"/>
              </a:rPr>
              <a:t>“Intelligent Food Identification System Using Improved YOLOv8” – Francia </a:t>
            </a:r>
            <a:r>
              <a:rPr lang="en-US" sz="1800" b="1" u="sng" dirty="0" err="1">
                <a:solidFill>
                  <a:schemeClr val="tx2">
                    <a:lumMod val="75000"/>
                  </a:schemeClr>
                </a:solidFill>
                <a:latin typeface="Times New Roman" panose="02020603050405020304" pitchFamily="18" charset="0"/>
                <a:cs typeface="Times New Roman" panose="02020603050405020304" pitchFamily="18" charset="0"/>
              </a:rPr>
              <a:t>Nitiavintokana</a:t>
            </a:r>
            <a:r>
              <a:rPr lang="en-US" sz="1800" b="1" u="sng" dirty="0">
                <a:solidFill>
                  <a:schemeClr val="tx2">
                    <a:lumMod val="75000"/>
                  </a:schemeClr>
                </a:solidFill>
                <a:latin typeface="Times New Roman" panose="02020603050405020304" pitchFamily="18" charset="0"/>
                <a:cs typeface="Times New Roman" panose="02020603050405020304" pitchFamily="18" charset="0"/>
              </a:rPr>
              <a:t>, Md Abdur Rouf, </a:t>
            </a:r>
            <a:r>
              <a:rPr lang="en-US" sz="1800" b="1" u="sng" dirty="0" err="1">
                <a:solidFill>
                  <a:schemeClr val="tx2">
                    <a:lumMod val="75000"/>
                  </a:schemeClr>
                </a:solidFill>
                <a:latin typeface="Times New Roman" panose="02020603050405020304" pitchFamily="18" charset="0"/>
                <a:cs typeface="Times New Roman" panose="02020603050405020304" pitchFamily="18" charset="0"/>
              </a:rPr>
              <a:t>Haibin</a:t>
            </a:r>
            <a:r>
              <a:rPr lang="en-US" sz="1800" b="1" u="sng" dirty="0">
                <a:solidFill>
                  <a:schemeClr val="tx2">
                    <a:lumMod val="75000"/>
                  </a:schemeClr>
                </a:solidFill>
                <a:latin typeface="Times New Roman" panose="02020603050405020304" pitchFamily="18" charset="0"/>
                <a:cs typeface="Times New Roman" panose="02020603050405020304" pitchFamily="18" charset="0"/>
              </a:rPr>
              <a:t> Wu, Aili Wang, Xiaoyu Yu, Yuji </a:t>
            </a:r>
            <a:r>
              <a:rPr lang="en-US" sz="1800" b="1" u="sng" dirty="0" err="1">
                <a:solidFill>
                  <a:schemeClr val="tx2">
                    <a:lumMod val="75000"/>
                  </a:schemeClr>
                </a:solidFill>
                <a:latin typeface="Times New Roman" panose="02020603050405020304" pitchFamily="18" charset="0"/>
                <a:cs typeface="Times New Roman" panose="02020603050405020304" pitchFamily="18" charset="0"/>
              </a:rPr>
              <a:t>Iwahori</a:t>
            </a:r>
            <a:r>
              <a:rPr lang="en-US" sz="1800" b="1" u="sng" dirty="0">
                <a:solidFill>
                  <a:schemeClr val="tx2">
                    <a:lumMod val="75000"/>
                  </a:schemeClr>
                </a:solidFill>
                <a:latin typeface="Times New Roman" panose="02020603050405020304" pitchFamily="18" charset="0"/>
                <a:cs typeface="Times New Roman" panose="02020603050405020304" pitchFamily="18" charset="0"/>
              </a:rPr>
              <a:t> (ISCSET 2024)</a:t>
            </a:r>
          </a:p>
          <a:p>
            <a:pPr algn="just">
              <a:lnSpc>
                <a:spcPct val="100000"/>
              </a:lnSpc>
            </a:pPr>
            <a:r>
              <a:rPr lang="en-US" sz="1800" dirty="0">
                <a:solidFill>
                  <a:schemeClr val="tx2">
                    <a:lumMod val="75000"/>
                  </a:schemeClr>
                </a:solidFill>
                <a:latin typeface="Times New Roman" panose="02020603050405020304" pitchFamily="18" charset="0"/>
                <a:cs typeface="Times New Roman" panose="02020603050405020304" pitchFamily="18" charset="0"/>
              </a:rPr>
              <a:t>Enhanced YOLOv8 with BiTrains-YOLOv8, and SFPN fusion.</a:t>
            </a:r>
          </a:p>
          <a:p>
            <a:pPr algn="just">
              <a:lnSpc>
                <a:spcPct val="100000"/>
              </a:lnSpc>
            </a:pPr>
            <a:r>
              <a:rPr lang="en-US" sz="1800" dirty="0">
                <a:solidFill>
                  <a:schemeClr val="tx2">
                    <a:lumMod val="75000"/>
                  </a:schemeClr>
                </a:solidFill>
                <a:latin typeface="Times New Roman" panose="02020603050405020304" pitchFamily="18" charset="0"/>
                <a:cs typeface="Times New Roman" panose="02020603050405020304" pitchFamily="18" charset="0"/>
              </a:rPr>
              <a:t>Used semi-supervised training for better generalization.</a:t>
            </a:r>
          </a:p>
          <a:p>
            <a:pPr algn="just">
              <a:lnSpc>
                <a:spcPct val="100000"/>
              </a:lnSpc>
            </a:pPr>
            <a:r>
              <a:rPr lang="en-US" sz="1800" dirty="0">
                <a:solidFill>
                  <a:schemeClr val="tx2">
                    <a:lumMod val="75000"/>
                  </a:schemeClr>
                </a:solidFill>
                <a:latin typeface="Times New Roman" panose="02020603050405020304" pitchFamily="18" charset="0"/>
                <a:cs typeface="Times New Roman" panose="02020603050405020304" pitchFamily="18" charset="0"/>
              </a:rPr>
              <a:t>Dataset: 2650 food images, 41 classes.</a:t>
            </a:r>
          </a:p>
          <a:p>
            <a:pPr algn="just">
              <a:lnSpc>
                <a:spcPct val="100000"/>
              </a:lnSpc>
            </a:pPr>
            <a:r>
              <a:rPr lang="en-US" sz="1800" dirty="0">
                <a:solidFill>
                  <a:schemeClr val="tx2">
                    <a:lumMod val="75000"/>
                  </a:schemeClr>
                </a:solidFill>
                <a:latin typeface="Times New Roman" panose="02020603050405020304" pitchFamily="18" charset="0"/>
                <a:cs typeface="Times New Roman" panose="02020603050405020304" pitchFamily="18" charset="0"/>
              </a:rPr>
              <a:t>Achieved 96.7% accuracy, strong in low-light &amp; clutter.</a:t>
            </a:r>
          </a:p>
          <a:p>
            <a:pPr algn="just">
              <a:lnSpc>
                <a:spcPct val="100000"/>
              </a:lnSpc>
            </a:pPr>
            <a:r>
              <a:rPr lang="en-US" sz="1800" dirty="0">
                <a:solidFill>
                  <a:schemeClr val="tx2">
                    <a:lumMod val="75000"/>
                  </a:schemeClr>
                </a:solidFill>
                <a:latin typeface="Times New Roman" panose="02020603050405020304" pitchFamily="18" charset="0"/>
                <a:cs typeface="Times New Roman" panose="02020603050405020304" pitchFamily="18" charset="0"/>
              </a:rPr>
              <a:t>Outperformed YOLOv5, YOLOv7, R-CNN.</a:t>
            </a:r>
          </a:p>
          <a:p>
            <a:pPr algn="just">
              <a:lnSpc>
                <a:spcPct val="100000"/>
              </a:lnSpc>
            </a:pPr>
            <a:r>
              <a:rPr lang="en-US" sz="1800" dirty="0">
                <a:solidFill>
                  <a:schemeClr val="tx2">
                    <a:lumMod val="75000"/>
                  </a:schemeClr>
                </a:solidFill>
                <a:latin typeface="Times New Roman" panose="02020603050405020304" pitchFamily="18" charset="0"/>
                <a:cs typeface="Times New Roman" panose="02020603050405020304" pitchFamily="18" charset="0"/>
              </a:rPr>
              <a:t>Limitations: No calorie detection, needs powerful hardware.</a:t>
            </a:r>
          </a:p>
        </p:txBody>
      </p:sp>
      <p:cxnSp>
        <p:nvCxnSpPr>
          <p:cNvPr id="12" name="Straight Connector 11">
            <a:extLst>
              <a:ext uri="{FF2B5EF4-FFF2-40B4-BE49-F238E27FC236}">
                <a16:creationId xmlns:a16="http://schemas.microsoft.com/office/drawing/2014/main" id="{7ECDFB92-BB83-D31D-F5E3-B36C998A7089}"/>
              </a:ext>
            </a:extLst>
          </p:cNvPr>
          <p:cNvCxnSpPr/>
          <p:nvPr/>
        </p:nvCxnSpPr>
        <p:spPr>
          <a:xfrm>
            <a:off x="6443873" y="801384"/>
            <a:ext cx="0" cy="6041205"/>
          </a:xfrm>
          <a:prstGeom prst="line">
            <a:avLst/>
          </a:prstGeom>
          <a:ln>
            <a:solidFill>
              <a:schemeClr val="tx2">
                <a:lumMod val="75000"/>
              </a:schemeClr>
            </a:solidFill>
          </a:ln>
        </p:spPr>
        <p:style>
          <a:lnRef idx="3">
            <a:schemeClr val="accent6"/>
          </a:lnRef>
          <a:fillRef idx="0">
            <a:schemeClr val="accent6"/>
          </a:fillRef>
          <a:effectRef idx="2">
            <a:schemeClr val="accent6"/>
          </a:effectRef>
          <a:fontRef idx="minor">
            <a:schemeClr val="tx1"/>
          </a:fontRef>
        </p:style>
      </p:cxnSp>
      <p:sp>
        <p:nvSpPr>
          <p:cNvPr id="13" name="Minus Sign 12">
            <a:extLst>
              <a:ext uri="{FF2B5EF4-FFF2-40B4-BE49-F238E27FC236}">
                <a16:creationId xmlns:a16="http://schemas.microsoft.com/office/drawing/2014/main" id="{15761A29-C3A0-42DF-3B94-A2EDBF0E6A90}"/>
              </a:ext>
            </a:extLst>
          </p:cNvPr>
          <p:cNvSpPr/>
          <p:nvPr/>
        </p:nvSpPr>
        <p:spPr>
          <a:xfrm>
            <a:off x="0" y="345245"/>
            <a:ext cx="3946727" cy="477520"/>
          </a:xfrm>
          <a:prstGeom prst="mathMinus">
            <a:avLst/>
          </a:prstGeom>
          <a:solidFill>
            <a:schemeClr val="tx2">
              <a:lumMod val="7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331380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324F9D91-2F64-CEF1-5C7A-2571472EA138}"/>
              </a:ext>
            </a:extLst>
          </p:cNvPr>
          <p:cNvSpPr>
            <a:spLocks noGrp="1"/>
          </p:cNvSpPr>
          <p:nvPr>
            <p:ph sz="quarter" idx="13"/>
          </p:nvPr>
        </p:nvSpPr>
        <p:spPr>
          <a:xfrm>
            <a:off x="132480" y="233442"/>
            <a:ext cx="5548669" cy="6149084"/>
          </a:xfrm>
        </p:spPr>
        <p:txBody>
          <a:bodyPr>
            <a:noAutofit/>
          </a:bodyPr>
          <a:lstStyle/>
          <a:p>
            <a:pPr algn="just">
              <a:lnSpc>
                <a:spcPct val="100000"/>
              </a:lnSpc>
            </a:pPr>
            <a:r>
              <a:rPr lang="en-US" sz="1800" b="1" dirty="0">
                <a:solidFill>
                  <a:schemeClr val="tx2">
                    <a:lumMod val="75000"/>
                  </a:schemeClr>
                </a:solidFill>
                <a:latin typeface="Times New Roman" panose="02020603050405020304" pitchFamily="18" charset="0"/>
                <a:cs typeface="Times New Roman" panose="02020603050405020304" pitchFamily="18" charset="0"/>
              </a:rPr>
              <a:t>3. “</a:t>
            </a:r>
            <a:r>
              <a:rPr lang="en-US" sz="1800" b="1" u="sng" dirty="0">
                <a:solidFill>
                  <a:schemeClr val="tx2">
                    <a:lumMod val="75000"/>
                  </a:schemeClr>
                </a:solidFill>
                <a:latin typeface="Times New Roman" panose="02020603050405020304" pitchFamily="18" charset="0"/>
                <a:cs typeface="Times New Roman" panose="02020603050405020304" pitchFamily="18" charset="0"/>
              </a:rPr>
              <a:t>Food Image Recognition and Calorie Prediction” – Narayana </a:t>
            </a:r>
            <a:r>
              <a:rPr lang="en-US" sz="1800" b="1" u="sng" dirty="0" err="1">
                <a:solidFill>
                  <a:schemeClr val="tx2">
                    <a:lumMod val="75000"/>
                  </a:schemeClr>
                </a:solidFill>
                <a:latin typeface="Times New Roman" panose="02020603050405020304" pitchFamily="18" charset="0"/>
                <a:cs typeface="Times New Roman" panose="02020603050405020304" pitchFamily="18" charset="0"/>
              </a:rPr>
              <a:t>Darapaneni</a:t>
            </a:r>
            <a:r>
              <a:rPr lang="en-US" sz="1800" b="1" u="sng" dirty="0">
                <a:solidFill>
                  <a:schemeClr val="tx2">
                    <a:lumMod val="75000"/>
                  </a:schemeClr>
                </a:solidFill>
                <a:latin typeface="Times New Roman" panose="02020603050405020304" pitchFamily="18" charset="0"/>
                <a:cs typeface="Times New Roman" panose="02020603050405020304" pitchFamily="18" charset="0"/>
              </a:rPr>
              <a:t>, Vishal Singh, </a:t>
            </a:r>
            <a:r>
              <a:rPr lang="en-US" sz="1800" b="1" u="sng" dirty="0" err="1">
                <a:solidFill>
                  <a:schemeClr val="tx2">
                    <a:lumMod val="75000"/>
                  </a:schemeClr>
                </a:solidFill>
                <a:latin typeface="Times New Roman" panose="02020603050405020304" pitchFamily="18" charset="0"/>
                <a:cs typeface="Times New Roman" panose="02020603050405020304" pitchFamily="18" charset="0"/>
              </a:rPr>
              <a:t>Yasharth</a:t>
            </a:r>
            <a:r>
              <a:rPr lang="en-US" sz="1800" b="1" u="sng" dirty="0">
                <a:solidFill>
                  <a:schemeClr val="tx2">
                    <a:lumMod val="75000"/>
                  </a:schemeClr>
                </a:solidFill>
                <a:latin typeface="Times New Roman" panose="02020603050405020304" pitchFamily="18" charset="0"/>
                <a:cs typeface="Times New Roman" panose="02020603050405020304" pitchFamily="18" charset="0"/>
              </a:rPr>
              <a:t> Singh </a:t>
            </a:r>
            <a:r>
              <a:rPr lang="en-US" sz="1800" b="1" u="sng" dirty="0" err="1">
                <a:solidFill>
                  <a:schemeClr val="tx2">
                    <a:lumMod val="75000"/>
                  </a:schemeClr>
                </a:solidFill>
                <a:latin typeface="Times New Roman" panose="02020603050405020304" pitchFamily="18" charset="0"/>
                <a:cs typeface="Times New Roman" panose="02020603050405020304" pitchFamily="18" charset="0"/>
              </a:rPr>
              <a:t>Tarkar</a:t>
            </a:r>
            <a:r>
              <a:rPr lang="en-US" sz="1800" b="1" u="sng" dirty="0">
                <a:solidFill>
                  <a:schemeClr val="tx2">
                    <a:lumMod val="75000"/>
                  </a:schemeClr>
                </a:solidFill>
                <a:latin typeface="Times New Roman" panose="02020603050405020304" pitchFamily="18" charset="0"/>
                <a:cs typeface="Times New Roman" panose="02020603050405020304" pitchFamily="18" charset="0"/>
              </a:rPr>
              <a:t>, </a:t>
            </a:r>
            <a:r>
              <a:rPr lang="en-US" sz="1800" b="1" u="sng" dirty="0" err="1">
                <a:solidFill>
                  <a:schemeClr val="tx2">
                    <a:lumMod val="75000"/>
                  </a:schemeClr>
                </a:solidFill>
                <a:latin typeface="Times New Roman" panose="02020603050405020304" pitchFamily="18" charset="0"/>
                <a:cs typeface="Times New Roman" panose="02020603050405020304" pitchFamily="18" charset="0"/>
              </a:rPr>
              <a:t>Subhav</a:t>
            </a:r>
            <a:r>
              <a:rPr lang="en-US" sz="1800" b="1" u="sng" dirty="0">
                <a:solidFill>
                  <a:schemeClr val="tx2">
                    <a:lumMod val="75000"/>
                  </a:schemeClr>
                </a:solidFill>
                <a:latin typeface="Times New Roman" panose="02020603050405020304" pitchFamily="18" charset="0"/>
                <a:cs typeface="Times New Roman" panose="02020603050405020304" pitchFamily="18" charset="0"/>
              </a:rPr>
              <a:t> Kataria, Nayana Bansal, Abhijeet </a:t>
            </a:r>
            <a:r>
              <a:rPr lang="en-US" sz="1800" b="1" u="sng" dirty="0" err="1">
                <a:solidFill>
                  <a:schemeClr val="tx2">
                    <a:lumMod val="75000"/>
                  </a:schemeClr>
                </a:solidFill>
                <a:latin typeface="Times New Roman" panose="02020603050405020304" pitchFamily="18" charset="0"/>
                <a:cs typeface="Times New Roman" panose="02020603050405020304" pitchFamily="18" charset="0"/>
              </a:rPr>
              <a:t>Kharade</a:t>
            </a:r>
            <a:r>
              <a:rPr lang="en-US" sz="1800" b="1" u="sng" dirty="0">
                <a:solidFill>
                  <a:schemeClr val="tx2">
                    <a:lumMod val="75000"/>
                  </a:schemeClr>
                </a:solidFill>
                <a:latin typeface="Times New Roman" panose="02020603050405020304" pitchFamily="18" charset="0"/>
                <a:cs typeface="Times New Roman" panose="02020603050405020304" pitchFamily="18" charset="0"/>
              </a:rPr>
              <a:t> (IEMTRONICS 2021)</a:t>
            </a:r>
          </a:p>
          <a:p>
            <a:pPr marL="285750" indent="-285750" algn="just">
              <a:lnSpc>
                <a:spcPct val="100000"/>
              </a:lnSpc>
              <a:buFont typeface="Arial" panose="020B0604020202020204" pitchFamily="34" charset="0"/>
              <a:buChar char="•"/>
            </a:pPr>
            <a:r>
              <a:rPr lang="en-US" sz="1800" dirty="0">
                <a:solidFill>
                  <a:schemeClr val="tx2">
                    <a:lumMod val="75000"/>
                  </a:schemeClr>
                </a:solidFill>
                <a:latin typeface="Times New Roman" panose="02020603050405020304" pitchFamily="18" charset="0"/>
                <a:cs typeface="Times New Roman" panose="02020603050405020304" pitchFamily="18" charset="0"/>
              </a:rPr>
              <a:t>Proposed a 4-stage deep learning pipeline for calorie estimation from food images.</a:t>
            </a:r>
          </a:p>
          <a:p>
            <a:pPr marL="285750" indent="-285750" algn="just">
              <a:lnSpc>
                <a:spcPct val="100000"/>
              </a:lnSpc>
              <a:buFont typeface="Arial" panose="020B0604020202020204" pitchFamily="34" charset="0"/>
              <a:buChar char="•"/>
            </a:pPr>
            <a:r>
              <a:rPr lang="en-US" sz="1800" dirty="0">
                <a:solidFill>
                  <a:schemeClr val="tx2">
                    <a:lumMod val="75000"/>
                  </a:schemeClr>
                </a:solidFill>
                <a:latin typeface="Times New Roman" panose="02020603050405020304" pitchFamily="18" charset="0"/>
                <a:cs typeface="Times New Roman" panose="02020603050405020304" pitchFamily="18" charset="0"/>
              </a:rPr>
              <a:t>Used Mask R-CNN with ResNet-101 for pixel-level segmentation &amp; classification.</a:t>
            </a:r>
          </a:p>
          <a:p>
            <a:pPr marL="285750" indent="-285750" algn="just">
              <a:lnSpc>
                <a:spcPct val="100000"/>
              </a:lnSpc>
              <a:buFont typeface="Arial" panose="020B0604020202020204" pitchFamily="34" charset="0"/>
              <a:buChar char="•"/>
            </a:pPr>
            <a:r>
              <a:rPr lang="en-US" sz="1800" dirty="0">
                <a:solidFill>
                  <a:schemeClr val="tx2">
                    <a:lumMod val="75000"/>
                  </a:schemeClr>
                </a:solidFill>
                <a:latin typeface="Times New Roman" panose="02020603050405020304" pitchFamily="18" charset="0"/>
                <a:cs typeface="Times New Roman" panose="02020603050405020304" pitchFamily="18" charset="0"/>
              </a:rPr>
              <a:t>Estimated food area via masks; applied “calorie per mask” proportional approximation.</a:t>
            </a:r>
          </a:p>
          <a:p>
            <a:pPr marL="285750" indent="-285750" algn="just">
              <a:lnSpc>
                <a:spcPct val="100000"/>
              </a:lnSpc>
              <a:buFont typeface="Arial" panose="020B0604020202020204" pitchFamily="34" charset="0"/>
              <a:buChar char="•"/>
            </a:pPr>
            <a:r>
              <a:rPr lang="en-US" sz="1800" dirty="0">
                <a:solidFill>
                  <a:schemeClr val="tx2">
                    <a:lumMod val="75000"/>
                  </a:schemeClr>
                </a:solidFill>
                <a:latin typeface="Times New Roman" panose="02020603050405020304" pitchFamily="18" charset="0"/>
                <a:cs typeface="Times New Roman" panose="02020603050405020304" pitchFamily="18" charset="0"/>
              </a:rPr>
              <a:t>Used transfer learning with COCO weights on 638-image custom dataset (6 classes).</a:t>
            </a:r>
          </a:p>
          <a:p>
            <a:pPr marL="285750" indent="-285750" algn="just">
              <a:lnSpc>
                <a:spcPct val="100000"/>
              </a:lnSpc>
              <a:buFont typeface="Arial" panose="020B0604020202020204" pitchFamily="34" charset="0"/>
              <a:buChar char="•"/>
            </a:pPr>
            <a:r>
              <a:rPr lang="en-US" sz="1800" dirty="0">
                <a:solidFill>
                  <a:schemeClr val="tx2">
                    <a:lumMod val="75000"/>
                  </a:schemeClr>
                </a:solidFill>
                <a:latin typeface="Times New Roman" panose="02020603050405020304" pitchFamily="18" charset="0"/>
                <a:cs typeface="Times New Roman" panose="02020603050405020304" pitchFamily="18" charset="0"/>
              </a:rPr>
              <a:t>Data sourced from Food101, UNIMIB2016, UEC-FOOD100.</a:t>
            </a:r>
          </a:p>
          <a:p>
            <a:pPr marL="285750" indent="-285750" algn="just">
              <a:lnSpc>
                <a:spcPct val="100000"/>
              </a:lnSpc>
              <a:buFont typeface="Arial" panose="020B0604020202020204" pitchFamily="34" charset="0"/>
              <a:buChar char="•"/>
            </a:pPr>
            <a:r>
              <a:rPr lang="en-US" sz="1800" dirty="0">
                <a:solidFill>
                  <a:schemeClr val="tx2">
                    <a:lumMod val="75000"/>
                  </a:schemeClr>
                </a:solidFill>
                <a:latin typeface="Times New Roman" panose="02020603050405020304" pitchFamily="18" charset="0"/>
                <a:cs typeface="Times New Roman" panose="02020603050405020304" pitchFamily="18" charset="0"/>
              </a:rPr>
              <a:t>Tech: Mask R-CNN, ResNet-101, area-based calorie model.</a:t>
            </a:r>
          </a:p>
          <a:p>
            <a:pPr marL="285750" indent="-285750" algn="just">
              <a:lnSpc>
                <a:spcPct val="100000"/>
              </a:lnSpc>
              <a:buFont typeface="Arial" panose="020B0604020202020204" pitchFamily="34" charset="0"/>
              <a:buChar char="•"/>
            </a:pPr>
            <a:r>
              <a:rPr lang="en-US" sz="1800" dirty="0">
                <a:solidFill>
                  <a:schemeClr val="tx2">
                    <a:lumMod val="75000"/>
                  </a:schemeClr>
                </a:solidFill>
                <a:latin typeface="Times New Roman" panose="02020603050405020304" pitchFamily="18" charset="0"/>
                <a:cs typeface="Times New Roman" panose="02020603050405020304" pitchFamily="18" charset="0"/>
              </a:rPr>
              <a:t>Limitation: Area-only estimation (no volume), only 6 classes, needs reference object.</a:t>
            </a:r>
            <a:endParaRPr lang="en-US" sz="1800" b="0" dirty="0">
              <a:solidFill>
                <a:schemeClr val="tx2">
                  <a:lumMod val="75000"/>
                </a:schemeClr>
              </a:solidFill>
              <a:latin typeface="Times New Roman" panose="02020603050405020304" pitchFamily="18" charset="0"/>
              <a:cs typeface="Times New Roman" panose="02020603050405020304" pitchFamily="18" charset="0"/>
            </a:endParaRPr>
          </a:p>
          <a:p>
            <a:pPr algn="just">
              <a:lnSpc>
                <a:spcPct val="100000"/>
              </a:lnSpc>
            </a:pPr>
            <a:endParaRPr lang="en-US" sz="1800" b="0" dirty="0">
              <a:solidFill>
                <a:schemeClr val="tx2">
                  <a:lumMod val="75000"/>
                </a:schemeClr>
              </a:solidFill>
              <a:latin typeface="Times New Roman" panose="02020603050405020304" pitchFamily="18" charset="0"/>
              <a:cs typeface="Times New Roman" panose="02020603050405020304" pitchFamily="18" charset="0"/>
            </a:endParaRPr>
          </a:p>
          <a:p>
            <a:pPr algn="just">
              <a:lnSpc>
                <a:spcPct val="100000"/>
              </a:lnSpc>
            </a:pPr>
            <a:endParaRPr lang="en-IN" sz="1800" b="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01815038-415B-A102-93AD-024011377461}"/>
              </a:ext>
            </a:extLst>
          </p:cNvPr>
          <p:cNvSpPr>
            <a:spLocks noGrp="1"/>
          </p:cNvSpPr>
          <p:nvPr>
            <p:ph sz="quarter" idx="14"/>
          </p:nvPr>
        </p:nvSpPr>
        <p:spPr>
          <a:xfrm>
            <a:off x="6602775" y="312234"/>
            <a:ext cx="4919780" cy="5565078"/>
          </a:xfrm>
        </p:spPr>
        <p:txBody>
          <a:bodyPr>
            <a:noAutofit/>
          </a:bodyPr>
          <a:lstStyle/>
          <a:p>
            <a:pPr marL="0" indent="0" algn="just">
              <a:lnSpc>
                <a:spcPct val="100000"/>
              </a:lnSpc>
              <a:buNone/>
            </a:pPr>
            <a:r>
              <a:rPr lang="en-US" sz="1800" b="1" dirty="0">
                <a:solidFill>
                  <a:schemeClr val="tx2">
                    <a:lumMod val="75000"/>
                  </a:schemeClr>
                </a:solidFill>
                <a:latin typeface="Times New Roman" panose="02020603050405020304" pitchFamily="18" charset="0"/>
                <a:cs typeface="Times New Roman" panose="02020603050405020304" pitchFamily="18" charset="0"/>
              </a:rPr>
              <a:t>4. </a:t>
            </a:r>
            <a:r>
              <a:rPr lang="en-US" sz="1800" b="1" u="sng" dirty="0">
                <a:solidFill>
                  <a:schemeClr val="tx2">
                    <a:lumMod val="75000"/>
                  </a:schemeClr>
                </a:solidFill>
                <a:latin typeface="Times New Roman" panose="02020603050405020304" pitchFamily="18" charset="0"/>
                <a:cs typeface="Times New Roman" panose="02020603050405020304" pitchFamily="18" charset="0"/>
              </a:rPr>
              <a:t>“Food Detection and Recognition with Deep Learning: A Comparative Study” – Siao Wah Tan, Chin Poo Lee, Kian Ming Lim, Jit Yan Lim (</a:t>
            </a:r>
            <a:r>
              <a:rPr lang="en-US" sz="1800" b="1" u="sng" dirty="0" err="1">
                <a:solidFill>
                  <a:schemeClr val="tx2">
                    <a:lumMod val="75000"/>
                  </a:schemeClr>
                </a:solidFill>
                <a:latin typeface="Times New Roman" panose="02020603050405020304" pitchFamily="18" charset="0"/>
                <a:cs typeface="Times New Roman" panose="02020603050405020304" pitchFamily="18" charset="0"/>
              </a:rPr>
              <a:t>ICoICT</a:t>
            </a:r>
            <a:r>
              <a:rPr lang="en-US" sz="1800" b="1" u="sng" dirty="0">
                <a:solidFill>
                  <a:schemeClr val="tx2">
                    <a:lumMod val="75000"/>
                  </a:schemeClr>
                </a:solidFill>
                <a:latin typeface="Times New Roman" panose="02020603050405020304" pitchFamily="18" charset="0"/>
                <a:cs typeface="Times New Roman" panose="02020603050405020304" pitchFamily="18" charset="0"/>
              </a:rPr>
              <a:t> 2023)</a:t>
            </a:r>
          </a:p>
          <a:p>
            <a:pPr algn="just"/>
            <a:r>
              <a:rPr lang="en-IN" sz="1800" dirty="0">
                <a:solidFill>
                  <a:schemeClr val="tx2">
                    <a:lumMod val="75000"/>
                  </a:schemeClr>
                </a:solidFill>
                <a:latin typeface="Times New Roman" panose="02020603050405020304" pitchFamily="18" charset="0"/>
                <a:cs typeface="Times New Roman" panose="02020603050405020304" pitchFamily="18" charset="0"/>
              </a:rPr>
              <a:t>Compared deep models for food detection across 3 datasets.</a:t>
            </a:r>
          </a:p>
          <a:p>
            <a:pPr algn="just"/>
            <a:r>
              <a:rPr lang="en-IN" sz="1800" dirty="0">
                <a:solidFill>
                  <a:schemeClr val="tx2">
                    <a:lumMod val="75000"/>
                  </a:schemeClr>
                </a:solidFill>
                <a:latin typeface="Times New Roman" panose="02020603050405020304" pitchFamily="18" charset="0"/>
                <a:cs typeface="Times New Roman" panose="02020603050405020304" pitchFamily="18" charset="0"/>
              </a:rPr>
              <a:t>Benchmarked 4 models: SSD (VGG-16), </a:t>
            </a:r>
            <a:r>
              <a:rPr lang="en-IN" sz="1800" dirty="0" err="1">
                <a:solidFill>
                  <a:schemeClr val="tx2">
                    <a:lumMod val="75000"/>
                  </a:schemeClr>
                </a:solidFill>
                <a:latin typeface="Times New Roman" panose="02020603050405020304" pitchFamily="18" charset="0"/>
                <a:cs typeface="Times New Roman" panose="02020603050405020304" pitchFamily="18" charset="0"/>
              </a:rPr>
              <a:t>RetinaNet</a:t>
            </a:r>
            <a:r>
              <a:rPr lang="en-IN" sz="1800" dirty="0">
                <a:solidFill>
                  <a:schemeClr val="tx2">
                    <a:lumMod val="75000"/>
                  </a:schemeClr>
                </a:solidFill>
                <a:latin typeface="Times New Roman" panose="02020603050405020304" pitchFamily="18" charset="0"/>
                <a:cs typeface="Times New Roman" panose="02020603050405020304" pitchFamily="18" charset="0"/>
              </a:rPr>
              <a:t> (ResNet-50), YOLOv5, and Faster-RCNN variants.</a:t>
            </a:r>
          </a:p>
          <a:p>
            <a:pPr algn="just"/>
            <a:r>
              <a:rPr lang="en-IN" sz="1800" dirty="0">
                <a:solidFill>
                  <a:schemeClr val="tx2">
                    <a:lumMod val="75000"/>
                  </a:schemeClr>
                </a:solidFill>
                <a:latin typeface="Times New Roman" panose="02020603050405020304" pitchFamily="18" charset="0"/>
                <a:cs typeface="Times New Roman" panose="02020603050405020304" pitchFamily="18" charset="0"/>
              </a:rPr>
              <a:t>Datasets: School Lunch, UEC FOOD 100, UEC FOOD 256.</a:t>
            </a:r>
          </a:p>
          <a:p>
            <a:pPr algn="just"/>
            <a:r>
              <a:rPr lang="en-IN" sz="1800" dirty="0">
                <a:solidFill>
                  <a:schemeClr val="tx2">
                    <a:lumMod val="75000"/>
                  </a:schemeClr>
                </a:solidFill>
                <a:latin typeface="Times New Roman" panose="02020603050405020304" pitchFamily="18" charset="0"/>
                <a:cs typeface="Times New Roman" panose="02020603050405020304" pitchFamily="18" charset="0"/>
              </a:rPr>
              <a:t>YOLOv5 achieved best speed–accuracy balance; Fast-RCNN (MobileNet-V3) excelled on small-class sets.</a:t>
            </a:r>
          </a:p>
          <a:p>
            <a:pPr algn="just"/>
            <a:r>
              <a:rPr lang="en-IN" sz="1800" dirty="0">
                <a:solidFill>
                  <a:schemeClr val="tx2">
                    <a:lumMod val="75000"/>
                  </a:schemeClr>
                </a:solidFill>
                <a:latin typeface="Times New Roman" panose="02020603050405020304" pitchFamily="18" charset="0"/>
                <a:cs typeface="Times New Roman" panose="02020603050405020304" pitchFamily="18" charset="0"/>
              </a:rPr>
              <a:t>Evaluated using </a:t>
            </a:r>
            <a:r>
              <a:rPr lang="en-IN" sz="1800" dirty="0" err="1">
                <a:solidFill>
                  <a:schemeClr val="tx2">
                    <a:lumMod val="75000"/>
                  </a:schemeClr>
                </a:solidFill>
                <a:latin typeface="Times New Roman" panose="02020603050405020304" pitchFamily="18" charset="0"/>
                <a:cs typeface="Times New Roman" panose="02020603050405020304" pitchFamily="18" charset="0"/>
              </a:rPr>
              <a:t>mAP</a:t>
            </a:r>
            <a:r>
              <a:rPr lang="en-IN" sz="1800" dirty="0">
                <a:solidFill>
                  <a:schemeClr val="tx2">
                    <a:lumMod val="75000"/>
                  </a:schemeClr>
                </a:solidFill>
                <a:latin typeface="Times New Roman" panose="02020603050405020304" pitchFamily="18" charset="0"/>
                <a:cs typeface="Times New Roman" panose="02020603050405020304" pitchFamily="18" charset="0"/>
              </a:rPr>
              <a:t>; performance varied per dataset.</a:t>
            </a:r>
          </a:p>
          <a:p>
            <a:pPr algn="just"/>
            <a:r>
              <a:rPr lang="en-IN" sz="1800" dirty="0">
                <a:solidFill>
                  <a:schemeClr val="tx2">
                    <a:lumMod val="75000"/>
                  </a:schemeClr>
                </a:solidFill>
                <a:latin typeface="Times New Roman" panose="02020603050405020304" pitchFamily="18" charset="0"/>
                <a:cs typeface="Times New Roman" panose="02020603050405020304" pitchFamily="18" charset="0"/>
              </a:rPr>
              <a:t>Limitation: No calorie estimation or segmentation; limited to 3 datasets; some models failed due to hardware constraints</a:t>
            </a:r>
            <a:r>
              <a:rPr lang="en-IN" sz="1800" dirty="0">
                <a:solidFill>
                  <a:schemeClr val="tx2">
                    <a:lumMod val="75000"/>
                  </a:schemeClr>
                </a:solidFill>
              </a:rPr>
              <a:t>.</a:t>
            </a:r>
          </a:p>
        </p:txBody>
      </p:sp>
      <p:sp>
        <p:nvSpPr>
          <p:cNvPr id="2" name="Minus Sign 1">
            <a:extLst>
              <a:ext uri="{FF2B5EF4-FFF2-40B4-BE49-F238E27FC236}">
                <a16:creationId xmlns:a16="http://schemas.microsoft.com/office/drawing/2014/main" id="{C55644D4-EC63-44F3-FD3A-8F7778040673}"/>
              </a:ext>
            </a:extLst>
          </p:cNvPr>
          <p:cNvSpPr/>
          <p:nvPr/>
        </p:nvSpPr>
        <p:spPr>
          <a:xfrm>
            <a:off x="-335891" y="-141164"/>
            <a:ext cx="3946727" cy="477520"/>
          </a:xfrm>
          <a:prstGeom prst="mathMinus">
            <a:avLst/>
          </a:prstGeom>
          <a:solidFill>
            <a:schemeClr val="tx2">
              <a:lumMod val="7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cxnSp>
        <p:nvCxnSpPr>
          <p:cNvPr id="5" name="Straight Connector 4">
            <a:extLst>
              <a:ext uri="{FF2B5EF4-FFF2-40B4-BE49-F238E27FC236}">
                <a16:creationId xmlns:a16="http://schemas.microsoft.com/office/drawing/2014/main" id="{BC048AB9-A827-4425-D5E8-D47D8385E6B4}"/>
              </a:ext>
            </a:extLst>
          </p:cNvPr>
          <p:cNvCxnSpPr>
            <a:cxnSpLocks/>
          </p:cNvCxnSpPr>
          <p:nvPr/>
        </p:nvCxnSpPr>
        <p:spPr>
          <a:xfrm>
            <a:off x="6150118" y="312234"/>
            <a:ext cx="0" cy="6545766"/>
          </a:xfrm>
          <a:prstGeom prst="line">
            <a:avLst/>
          </a:prstGeom>
          <a:ln>
            <a:solidFill>
              <a:schemeClr val="tx2">
                <a:lumMod val="75000"/>
              </a:schemeClr>
            </a:solidFill>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773029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a:extLst>
            <a:ext uri="{FF2B5EF4-FFF2-40B4-BE49-F238E27FC236}">
              <a16:creationId xmlns:a16="http://schemas.microsoft.com/office/drawing/2014/main" id="{DA2505FC-6592-955A-829B-68F3E9D5A0CF}"/>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DE729E06-588F-A382-1A3D-0E34F69E1AC4}"/>
              </a:ext>
            </a:extLst>
          </p:cNvPr>
          <p:cNvSpPr>
            <a:spLocks noGrp="1"/>
          </p:cNvSpPr>
          <p:nvPr>
            <p:ph sz="quarter" idx="13"/>
          </p:nvPr>
        </p:nvSpPr>
        <p:spPr>
          <a:xfrm>
            <a:off x="172721" y="267630"/>
            <a:ext cx="5647689" cy="6590370"/>
          </a:xfrm>
        </p:spPr>
        <p:txBody>
          <a:bodyPr>
            <a:normAutofit fontScale="92500" lnSpcReduction="10000"/>
          </a:bodyPr>
          <a:lstStyle/>
          <a:p>
            <a:pPr algn="just"/>
            <a:r>
              <a:rPr lang="en-US" b="1" dirty="0">
                <a:solidFill>
                  <a:schemeClr val="tx2">
                    <a:lumMod val="75000"/>
                  </a:schemeClr>
                </a:solidFill>
              </a:rPr>
              <a:t>5. </a:t>
            </a:r>
            <a:r>
              <a:rPr lang="en-US" sz="1900" b="1" u="sng" dirty="0">
                <a:solidFill>
                  <a:schemeClr val="tx2">
                    <a:lumMod val="75000"/>
                  </a:schemeClr>
                </a:solidFill>
                <a:latin typeface="Times New Roman" panose="02020603050405020304" pitchFamily="18" charset="0"/>
                <a:cs typeface="Times New Roman" panose="02020603050405020304" pitchFamily="18" charset="0"/>
              </a:rPr>
              <a:t>“Deep Learning Framework for Food Item Recognition and Nutrition Assessment” – Prabodh </a:t>
            </a:r>
            <a:r>
              <a:rPr lang="en-US" sz="1900" b="1" u="sng" dirty="0" err="1">
                <a:solidFill>
                  <a:schemeClr val="tx2">
                    <a:lumMod val="75000"/>
                  </a:schemeClr>
                </a:solidFill>
                <a:latin typeface="Times New Roman" panose="02020603050405020304" pitchFamily="18" charset="0"/>
                <a:cs typeface="Times New Roman" panose="02020603050405020304" pitchFamily="18" charset="0"/>
              </a:rPr>
              <a:t>Panindre</a:t>
            </a:r>
            <a:r>
              <a:rPr lang="en-US" sz="1900" b="1" u="sng" dirty="0">
                <a:solidFill>
                  <a:schemeClr val="tx2">
                    <a:lumMod val="75000"/>
                  </a:schemeClr>
                </a:solidFill>
                <a:latin typeface="Times New Roman" panose="02020603050405020304" pitchFamily="18" charset="0"/>
                <a:cs typeface="Times New Roman" panose="02020603050405020304" pitchFamily="18" charset="0"/>
              </a:rPr>
              <a:t>, Tanmay Mandal, Praneeth Kumar </a:t>
            </a:r>
            <a:r>
              <a:rPr lang="en-US" sz="1900" b="1" u="sng" dirty="0" err="1">
                <a:solidFill>
                  <a:schemeClr val="tx2">
                    <a:lumMod val="75000"/>
                  </a:schemeClr>
                </a:solidFill>
                <a:latin typeface="Times New Roman" panose="02020603050405020304" pitchFamily="18" charset="0"/>
                <a:cs typeface="Times New Roman" panose="02020603050405020304" pitchFamily="18" charset="0"/>
              </a:rPr>
              <a:t>Thummalapalli</a:t>
            </a:r>
            <a:r>
              <a:rPr lang="en-US" sz="1900" b="1" u="sng" dirty="0">
                <a:solidFill>
                  <a:schemeClr val="tx2">
                    <a:lumMod val="75000"/>
                  </a:schemeClr>
                </a:solidFill>
                <a:latin typeface="Times New Roman" panose="02020603050405020304" pitchFamily="18" charset="0"/>
                <a:cs typeface="Times New Roman" panose="02020603050405020304" pitchFamily="18" charset="0"/>
              </a:rPr>
              <a:t>, Sunil Kumar (ICMCSI 2025)</a:t>
            </a:r>
          </a:p>
          <a:p>
            <a:pPr marL="342900" indent="-342900" algn="just">
              <a:buFont typeface="Arial" panose="020B0604020202020204" pitchFamily="34" charset="0"/>
              <a:buChar char="•"/>
            </a:pPr>
            <a:r>
              <a:rPr lang="en-US" dirty="0">
                <a:solidFill>
                  <a:schemeClr val="tx2">
                    <a:lumMod val="75000"/>
                  </a:schemeClr>
                </a:solidFill>
                <a:latin typeface="Times New Roman" panose="02020603050405020304" pitchFamily="18" charset="0"/>
                <a:cs typeface="Times New Roman" panose="02020603050405020304" pitchFamily="18" charset="0"/>
              </a:rPr>
              <a:t>Proposed YOLOv8m-based nutrition analysis system for mobile use.</a:t>
            </a:r>
          </a:p>
          <a:p>
            <a:pPr marL="342900" indent="-342900" algn="just">
              <a:buFont typeface="Arial" panose="020B0604020202020204" pitchFamily="34" charset="0"/>
              <a:buChar char="•"/>
            </a:pPr>
            <a:r>
              <a:rPr lang="en-US" dirty="0">
                <a:solidFill>
                  <a:schemeClr val="tx2">
                    <a:lumMod val="75000"/>
                  </a:schemeClr>
                </a:solidFill>
                <a:latin typeface="Times New Roman" panose="02020603050405020304" pitchFamily="18" charset="0"/>
                <a:cs typeface="Times New Roman" panose="02020603050405020304" pitchFamily="18" charset="0"/>
              </a:rPr>
              <a:t>Used 95,000-image </a:t>
            </a:r>
            <a:r>
              <a:rPr lang="en-US" dirty="0" err="1">
                <a:solidFill>
                  <a:schemeClr val="tx2">
                    <a:lumMod val="75000"/>
                  </a:schemeClr>
                </a:solidFill>
                <a:latin typeface="Times New Roman" panose="02020603050405020304" pitchFamily="18" charset="0"/>
                <a:cs typeface="Times New Roman" panose="02020603050405020304" pitchFamily="18" charset="0"/>
              </a:rPr>
              <a:t>Roboflow</a:t>
            </a:r>
            <a:r>
              <a:rPr lang="en-US" dirty="0">
                <a:solidFill>
                  <a:schemeClr val="tx2">
                    <a:lumMod val="75000"/>
                  </a:schemeClr>
                </a:solidFill>
                <a:latin typeface="Times New Roman" panose="02020603050405020304" pitchFamily="18" charset="0"/>
                <a:cs typeface="Times New Roman" panose="02020603050405020304" pitchFamily="18" charset="0"/>
              </a:rPr>
              <a:t> dataset with class merging, balancing, and synonym cleanup.</a:t>
            </a:r>
          </a:p>
          <a:p>
            <a:pPr marL="342900" indent="-342900" algn="just">
              <a:buFont typeface="Arial" panose="020B0604020202020204" pitchFamily="34" charset="0"/>
              <a:buChar char="•"/>
            </a:pPr>
            <a:r>
              <a:rPr lang="en-US" dirty="0">
                <a:solidFill>
                  <a:schemeClr val="tx2">
                    <a:lumMod val="75000"/>
                  </a:schemeClr>
                </a:solidFill>
                <a:latin typeface="Times New Roman" panose="02020603050405020304" pitchFamily="18" charset="0"/>
                <a:cs typeface="Times New Roman" panose="02020603050405020304" pitchFamily="18" charset="0"/>
              </a:rPr>
              <a:t>Estimated food volume using bounding box area + plate size + food thickness + density.</a:t>
            </a:r>
          </a:p>
          <a:p>
            <a:pPr marL="342900" indent="-342900" algn="just">
              <a:buFont typeface="Arial" panose="020B0604020202020204" pitchFamily="34" charset="0"/>
              <a:buChar char="•"/>
            </a:pPr>
            <a:r>
              <a:rPr lang="en-US" dirty="0">
                <a:solidFill>
                  <a:schemeClr val="tx2">
                    <a:lumMod val="75000"/>
                  </a:schemeClr>
                </a:solidFill>
                <a:latin typeface="Times New Roman" panose="02020603050405020304" pitchFamily="18" charset="0"/>
                <a:cs typeface="Times New Roman" panose="02020603050405020304" pitchFamily="18" charset="0"/>
              </a:rPr>
              <a:t>Nutrition (calories, protein, fat, carbs) calculated from estimated volume.</a:t>
            </a:r>
          </a:p>
          <a:p>
            <a:pPr marL="342900" indent="-342900" algn="just">
              <a:buFont typeface="Arial" panose="020B0604020202020204" pitchFamily="34" charset="0"/>
              <a:buChar char="•"/>
            </a:pPr>
            <a:r>
              <a:rPr lang="en-US" dirty="0">
                <a:solidFill>
                  <a:schemeClr val="tx2">
                    <a:lumMod val="75000"/>
                  </a:schemeClr>
                </a:solidFill>
                <a:latin typeface="Times New Roman" panose="02020603050405020304" pitchFamily="18" charset="0"/>
                <a:cs typeface="Times New Roman" panose="02020603050405020304" pitchFamily="18" charset="0"/>
              </a:rPr>
              <a:t>Deployed via Flask on Heroku for real-time mobile inference.</a:t>
            </a:r>
          </a:p>
          <a:p>
            <a:pPr marL="342900" indent="-342900" algn="just">
              <a:buFont typeface="Arial" panose="020B0604020202020204" pitchFamily="34" charset="0"/>
              <a:buChar char="•"/>
            </a:pPr>
            <a:r>
              <a:rPr lang="en-US" dirty="0">
                <a:solidFill>
                  <a:schemeClr val="tx2">
                    <a:lumMod val="75000"/>
                  </a:schemeClr>
                </a:solidFill>
                <a:latin typeface="Times New Roman" panose="02020603050405020304" pitchFamily="18" charset="0"/>
                <a:cs typeface="Times New Roman" panose="02020603050405020304" pitchFamily="18" charset="0"/>
              </a:rPr>
              <a:t>Achieved 79.4% mAP@0.5.</a:t>
            </a:r>
          </a:p>
          <a:p>
            <a:pPr marL="342900" indent="-342900" algn="just">
              <a:buFont typeface="Arial" panose="020B0604020202020204" pitchFamily="34" charset="0"/>
              <a:buChar char="•"/>
            </a:pPr>
            <a:r>
              <a:rPr lang="en-US" dirty="0">
                <a:solidFill>
                  <a:schemeClr val="tx2">
                    <a:lumMod val="75000"/>
                  </a:schemeClr>
                </a:solidFill>
                <a:latin typeface="Times New Roman" panose="02020603050405020304" pitchFamily="18" charset="0"/>
                <a:cs typeface="Times New Roman" panose="02020603050405020304" pitchFamily="18" charset="0"/>
              </a:rPr>
              <a:t>Tech: YOLOv8m, Flask, Heroku, volume-based nutrition.</a:t>
            </a:r>
          </a:p>
          <a:p>
            <a:pPr marL="342900" indent="-342900" algn="just">
              <a:buFont typeface="Arial" panose="020B0604020202020204" pitchFamily="34" charset="0"/>
              <a:buChar char="•"/>
            </a:pPr>
            <a:r>
              <a:rPr lang="en-US" dirty="0">
                <a:solidFill>
                  <a:schemeClr val="tx2">
                    <a:lumMod val="75000"/>
                  </a:schemeClr>
                </a:solidFill>
                <a:latin typeface="Times New Roman" panose="02020603050405020304" pitchFamily="18" charset="0"/>
                <a:cs typeface="Times New Roman" panose="02020603050405020304" pitchFamily="18" charset="0"/>
              </a:rPr>
              <a:t>Limitation: Only 2D image input; fixed nutrient values; struggles with mixed/overlapping foods.</a:t>
            </a:r>
          </a:p>
        </p:txBody>
      </p:sp>
      <p:sp>
        <p:nvSpPr>
          <p:cNvPr id="7" name="Content Placeholder 6">
            <a:extLst>
              <a:ext uri="{FF2B5EF4-FFF2-40B4-BE49-F238E27FC236}">
                <a16:creationId xmlns:a16="http://schemas.microsoft.com/office/drawing/2014/main" id="{FC8371E8-AD44-AF35-D81B-BB30D72D4928}"/>
              </a:ext>
            </a:extLst>
          </p:cNvPr>
          <p:cNvSpPr>
            <a:spLocks noGrp="1"/>
          </p:cNvSpPr>
          <p:nvPr>
            <p:ph sz="quarter" idx="14"/>
          </p:nvPr>
        </p:nvSpPr>
        <p:spPr>
          <a:xfrm>
            <a:off x="6221765" y="267630"/>
            <a:ext cx="5797514" cy="6006365"/>
          </a:xfrm>
        </p:spPr>
        <p:txBody>
          <a:bodyPr>
            <a:noAutofit/>
          </a:bodyPr>
          <a:lstStyle/>
          <a:p>
            <a:pPr marL="0" indent="0">
              <a:buNone/>
            </a:pPr>
            <a:r>
              <a:rPr lang="en-US" sz="1800" b="1" dirty="0">
                <a:solidFill>
                  <a:schemeClr val="tx2">
                    <a:lumMod val="75000"/>
                  </a:schemeClr>
                </a:solidFill>
              </a:rPr>
              <a:t>6. “</a:t>
            </a:r>
            <a:r>
              <a:rPr lang="en-US" sz="1800" b="1" u="sng" dirty="0">
                <a:solidFill>
                  <a:schemeClr val="tx2">
                    <a:lumMod val="75000"/>
                  </a:schemeClr>
                </a:solidFill>
                <a:latin typeface="Times New Roman" panose="02020603050405020304" pitchFamily="18" charset="0"/>
                <a:cs typeface="Times New Roman" panose="02020603050405020304" pitchFamily="18" charset="0"/>
              </a:rPr>
              <a:t>Calorie Estimation of Food and Beverages using Deep Learning” – Dr. Parimala Gandhi A, Ms. Sapna S, Mr. Yaswanth K M, Mr. Praveen Kumar M (ICCMC 2023</a:t>
            </a:r>
            <a:r>
              <a:rPr lang="en-US" sz="1800" u="sng" dirty="0">
                <a:solidFill>
                  <a:schemeClr val="tx2">
                    <a:lumMod val="75000"/>
                  </a:schemeClr>
                </a:solidFill>
                <a:latin typeface="Times New Roman" panose="02020603050405020304" pitchFamily="18" charset="0"/>
                <a:cs typeface="Times New Roman" panose="02020603050405020304" pitchFamily="18" charset="0"/>
              </a:rPr>
              <a:t>)</a:t>
            </a:r>
          </a:p>
          <a:p>
            <a:pPr algn="just"/>
            <a:r>
              <a:rPr lang="en-US" sz="1800" dirty="0">
                <a:solidFill>
                  <a:schemeClr val="tx2">
                    <a:lumMod val="75000"/>
                  </a:schemeClr>
                </a:solidFill>
                <a:latin typeface="Times New Roman" panose="02020603050405020304" pitchFamily="18" charset="0"/>
                <a:cs typeface="Times New Roman" panose="02020603050405020304" pitchFamily="18" charset="0"/>
              </a:rPr>
              <a:t>Developed a 6-layer custom CNN for food and beverage calorie estimation from images.</a:t>
            </a:r>
          </a:p>
          <a:p>
            <a:pPr algn="just"/>
            <a:r>
              <a:rPr lang="en-US" sz="1800" dirty="0">
                <a:solidFill>
                  <a:schemeClr val="tx2">
                    <a:lumMod val="75000"/>
                  </a:schemeClr>
                </a:solidFill>
                <a:latin typeface="Times New Roman" panose="02020603050405020304" pitchFamily="18" charset="0"/>
                <a:cs typeface="Times New Roman" panose="02020603050405020304" pitchFamily="18" charset="0"/>
              </a:rPr>
              <a:t>Used edge detection, HSV filtering, and morphological ops for segmentation.</a:t>
            </a:r>
          </a:p>
          <a:p>
            <a:pPr algn="just"/>
            <a:r>
              <a:rPr lang="en-US" sz="1800" dirty="0">
                <a:solidFill>
                  <a:schemeClr val="tx2">
                    <a:lumMod val="75000"/>
                  </a:schemeClr>
                </a:solidFill>
                <a:latin typeface="Times New Roman" panose="02020603050405020304" pitchFamily="18" charset="0"/>
                <a:cs typeface="Times New Roman" panose="02020603050405020304" pitchFamily="18" charset="0"/>
              </a:rPr>
              <a:t>Estimated food volume using real-world object references (e.g., thumb/plate).</a:t>
            </a:r>
          </a:p>
          <a:p>
            <a:pPr algn="just"/>
            <a:r>
              <a:rPr lang="en-US" sz="1800" dirty="0">
                <a:solidFill>
                  <a:schemeClr val="tx2">
                    <a:lumMod val="75000"/>
                  </a:schemeClr>
                </a:solidFill>
                <a:latin typeface="Times New Roman" panose="02020603050405020304" pitchFamily="18" charset="0"/>
                <a:cs typeface="Times New Roman" panose="02020603050405020304" pitchFamily="18" charset="0"/>
              </a:rPr>
              <a:t>Achieved 94.47% accuracy on Fruits-360 + real images.</a:t>
            </a:r>
          </a:p>
          <a:p>
            <a:pPr algn="just"/>
            <a:r>
              <a:rPr lang="en-US" sz="1800" dirty="0">
                <a:solidFill>
                  <a:schemeClr val="tx2">
                    <a:lumMod val="75000"/>
                  </a:schemeClr>
                </a:solidFill>
                <a:latin typeface="Times New Roman" panose="02020603050405020304" pitchFamily="18" charset="0"/>
                <a:cs typeface="Times New Roman" panose="02020603050405020304" pitchFamily="18" charset="0"/>
              </a:rPr>
              <a:t>Outperformed traditional classifiers in controlled setups.</a:t>
            </a:r>
          </a:p>
          <a:p>
            <a:pPr algn="just"/>
            <a:r>
              <a:rPr lang="en-US" sz="1800" dirty="0">
                <a:solidFill>
                  <a:schemeClr val="tx2">
                    <a:lumMod val="75000"/>
                  </a:schemeClr>
                </a:solidFill>
                <a:latin typeface="Times New Roman" panose="02020603050405020304" pitchFamily="18" charset="0"/>
                <a:cs typeface="Times New Roman" panose="02020603050405020304" pitchFamily="18" charset="0"/>
              </a:rPr>
              <a:t>Tech: Custom CNN, Fruits-360 + real mobile-captured dataset.</a:t>
            </a:r>
          </a:p>
          <a:p>
            <a:pPr algn="just"/>
            <a:r>
              <a:rPr lang="en-US" sz="1800" dirty="0">
                <a:solidFill>
                  <a:schemeClr val="tx2">
                    <a:lumMod val="75000"/>
                  </a:schemeClr>
                </a:solidFill>
                <a:latin typeface="Times New Roman" panose="02020603050405020304" pitchFamily="18" charset="0"/>
                <a:cs typeface="Times New Roman" panose="02020603050405020304" pitchFamily="18" charset="0"/>
              </a:rPr>
              <a:t>Limitation: Only 15 fruit classes, no multi-item meals, no NLP, needs reference object in image..</a:t>
            </a:r>
            <a:endParaRPr lang="en-IN" sz="1800" dirty="0">
              <a:solidFill>
                <a:schemeClr val="tx2">
                  <a:lumMod val="75000"/>
                </a:schemeClr>
              </a:solidFill>
              <a:latin typeface="Times New Roman" panose="02020603050405020304" pitchFamily="18" charset="0"/>
              <a:cs typeface="Times New Roman" panose="02020603050405020304" pitchFamily="18" charset="0"/>
            </a:endParaRPr>
          </a:p>
        </p:txBody>
      </p:sp>
      <p:sp>
        <p:nvSpPr>
          <p:cNvPr id="2" name="Minus Sign 1">
            <a:extLst>
              <a:ext uri="{FF2B5EF4-FFF2-40B4-BE49-F238E27FC236}">
                <a16:creationId xmlns:a16="http://schemas.microsoft.com/office/drawing/2014/main" id="{AA76FCC5-D4BE-7470-5D96-8673031B1594}"/>
              </a:ext>
            </a:extLst>
          </p:cNvPr>
          <p:cNvSpPr/>
          <p:nvPr/>
        </p:nvSpPr>
        <p:spPr>
          <a:xfrm>
            <a:off x="-289988" y="-104945"/>
            <a:ext cx="3946727" cy="477520"/>
          </a:xfrm>
          <a:prstGeom prst="mathMinus">
            <a:avLst/>
          </a:prstGeom>
          <a:solidFill>
            <a:schemeClr val="tx2">
              <a:lumMod val="7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cxnSp>
        <p:nvCxnSpPr>
          <p:cNvPr id="10" name="Straight Connector 9">
            <a:extLst>
              <a:ext uri="{FF2B5EF4-FFF2-40B4-BE49-F238E27FC236}">
                <a16:creationId xmlns:a16="http://schemas.microsoft.com/office/drawing/2014/main" id="{11C0FC48-C80A-C336-0805-989C943FBC39}"/>
              </a:ext>
            </a:extLst>
          </p:cNvPr>
          <p:cNvCxnSpPr>
            <a:cxnSpLocks/>
          </p:cNvCxnSpPr>
          <p:nvPr/>
        </p:nvCxnSpPr>
        <p:spPr>
          <a:xfrm>
            <a:off x="5992270" y="133815"/>
            <a:ext cx="0" cy="6724185"/>
          </a:xfrm>
          <a:prstGeom prst="line">
            <a:avLst/>
          </a:prstGeom>
          <a:ln>
            <a:solidFill>
              <a:schemeClr val="tx2">
                <a:lumMod val="75000"/>
              </a:schemeClr>
            </a:solidFill>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908690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CC552B7-3C0E-3043-36C3-002144E6F313}"/>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RESEARCH GAPS IDENTIFIED FROM LITERATURE REVIEW</a:t>
            </a:r>
            <a:endParaRPr lang="en-IN" sz="3200"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4A545275-D102-7EA8-AEF3-47C795081434}"/>
              </a:ext>
            </a:extLst>
          </p:cNvPr>
          <p:cNvSpPr>
            <a:spLocks noGrp="1"/>
          </p:cNvSpPr>
          <p:nvPr>
            <p:ph sz="quarter" idx="13"/>
          </p:nvPr>
        </p:nvSpPr>
        <p:spPr/>
        <p:txBody>
          <a:bodyPr>
            <a:normAutofit/>
          </a:bodyPr>
          <a:lstStyle/>
          <a:p>
            <a:pPr algn="just"/>
            <a:r>
              <a:rPr lang="en-US" sz="1800" b="0" dirty="0">
                <a:latin typeface="Times New Roman" panose="02020603050405020304" pitchFamily="18" charset="0"/>
                <a:cs typeface="Times New Roman" panose="02020603050405020304" pitchFamily="18" charset="0"/>
              </a:rPr>
              <a:t>Lack of Comprehensive Nutritional Analysis</a:t>
            </a:r>
          </a:p>
          <a:p>
            <a:pPr algn="just"/>
            <a:r>
              <a:rPr lang="en-US" sz="1800" b="0" dirty="0">
                <a:latin typeface="Times New Roman" panose="02020603050405020304" pitchFamily="18" charset="0"/>
                <a:cs typeface="Times New Roman" panose="02020603050405020304" pitchFamily="18" charset="0"/>
              </a:rPr>
              <a:t>No Context-Aware Calorie Adjustment Using NLP</a:t>
            </a:r>
          </a:p>
          <a:p>
            <a:pPr algn="just"/>
            <a:r>
              <a:rPr lang="en-US" sz="1800" b="0" dirty="0">
                <a:latin typeface="Times New Roman" panose="02020603050405020304" pitchFamily="18" charset="0"/>
                <a:cs typeface="Times New Roman" panose="02020603050405020304" pitchFamily="18" charset="0"/>
              </a:rPr>
              <a:t>Inadequate Portion Size Estimation</a:t>
            </a:r>
          </a:p>
          <a:p>
            <a:pPr algn="just"/>
            <a:r>
              <a:rPr lang="en-US" sz="1800" b="0" dirty="0">
                <a:latin typeface="Times New Roman" panose="02020603050405020304" pitchFamily="18" charset="0"/>
                <a:cs typeface="Times New Roman" panose="02020603050405020304" pitchFamily="18" charset="0"/>
              </a:rPr>
              <a:t>No Handling of Partially visible Food</a:t>
            </a:r>
          </a:p>
          <a:p>
            <a:pPr algn="just"/>
            <a:r>
              <a:rPr lang="en-US" sz="1800" b="0" dirty="0">
                <a:latin typeface="Times New Roman" panose="02020603050405020304" pitchFamily="18" charset="0"/>
                <a:cs typeface="Times New Roman" panose="02020603050405020304" pitchFamily="18" charset="0"/>
              </a:rPr>
              <a:t>Lack of Personalization or Feedback Mechanisms</a:t>
            </a:r>
          </a:p>
          <a:p>
            <a:pPr algn="just"/>
            <a:endParaRPr lang="en-IN" sz="18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6630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Rectangle 1">
            <a:extLst>
              <a:ext uri="{FF2B5EF4-FFF2-40B4-BE49-F238E27FC236}">
                <a16:creationId xmlns:a16="http://schemas.microsoft.com/office/drawing/2014/main" id="{4A5842D3-69A7-5187-75B5-10EBA0C05619}"/>
              </a:ext>
            </a:extLst>
          </p:cNvPr>
          <p:cNvSpPr>
            <a:spLocks noChangeArrowheads="1"/>
          </p:cNvSpPr>
          <p:nvPr/>
        </p:nvSpPr>
        <p:spPr bwMode="auto">
          <a:xfrm>
            <a:off x="1975632" y="2916217"/>
            <a:ext cx="11860564" cy="715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7457" tIns="190440" rIns="3174"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8B50F4FD-720D-7726-57D6-3F76FF8EA1BC}"/>
              </a:ext>
            </a:extLst>
          </p:cNvPr>
          <p:cNvSpPr txBox="1"/>
          <p:nvPr/>
        </p:nvSpPr>
        <p:spPr>
          <a:xfrm>
            <a:off x="555171" y="60031"/>
            <a:ext cx="6216570" cy="307777"/>
          </a:xfrm>
          <a:prstGeom prst="rect">
            <a:avLst/>
          </a:prstGeom>
          <a:noFill/>
        </p:spPr>
        <p:txBody>
          <a:bodyPr wrap="square">
            <a:spAutoFit/>
          </a:bodyPr>
          <a:lstStyle/>
          <a:p>
            <a:r>
              <a:rPr lang="en-US" sz="1400" b="1" dirty="0">
                <a:solidFill>
                  <a:schemeClr val="bg1"/>
                </a:solidFill>
                <a:latin typeface="Times New Roman" panose="02020603050405020304" pitchFamily="18" charset="0"/>
                <a:cs typeface="Times New Roman" panose="02020603050405020304" pitchFamily="18" charset="0"/>
              </a:rPr>
              <a:t>Table 1: Comparative Analysis of Related Work vs. Proposed System</a:t>
            </a:r>
            <a:endParaRPr lang="en-IN" sz="1400" b="1" dirty="0">
              <a:solidFill>
                <a:schemeClr val="bg1"/>
              </a:solidFill>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562839F8-35F7-6328-2EF5-7205F4400702}"/>
              </a:ext>
            </a:extLst>
          </p:cNvPr>
          <p:cNvGraphicFramePr>
            <a:graphicFrameLocks noGrp="1"/>
          </p:cNvGraphicFramePr>
          <p:nvPr>
            <p:ph sz="quarter" idx="13"/>
            <p:extLst>
              <p:ext uri="{D42A27DB-BD31-4B8C-83A1-F6EECF244321}">
                <p14:modId xmlns:p14="http://schemas.microsoft.com/office/powerpoint/2010/main" val="1815926368"/>
              </p:ext>
            </p:extLst>
          </p:nvPr>
        </p:nvGraphicFramePr>
        <p:xfrm>
          <a:off x="165719" y="367808"/>
          <a:ext cx="11860562" cy="6430159"/>
        </p:xfrm>
        <a:graphic>
          <a:graphicData uri="http://schemas.openxmlformats.org/drawingml/2006/table">
            <a:tbl>
              <a:tblPr firstRow="1" firstCol="1" bandRow="1">
                <a:tableStyleId>{69C7853C-536D-4A76-A0AE-DD22124D55A5}</a:tableStyleId>
              </a:tblPr>
              <a:tblGrid>
                <a:gridCol w="1261152">
                  <a:extLst>
                    <a:ext uri="{9D8B030D-6E8A-4147-A177-3AD203B41FA5}">
                      <a16:colId xmlns:a16="http://schemas.microsoft.com/office/drawing/2014/main" val="3314014375"/>
                    </a:ext>
                  </a:extLst>
                </a:gridCol>
                <a:gridCol w="1371760">
                  <a:extLst>
                    <a:ext uri="{9D8B030D-6E8A-4147-A177-3AD203B41FA5}">
                      <a16:colId xmlns:a16="http://schemas.microsoft.com/office/drawing/2014/main" val="2070789934"/>
                    </a:ext>
                  </a:extLst>
                </a:gridCol>
                <a:gridCol w="1371760">
                  <a:extLst>
                    <a:ext uri="{9D8B030D-6E8A-4147-A177-3AD203B41FA5}">
                      <a16:colId xmlns:a16="http://schemas.microsoft.com/office/drawing/2014/main" val="1082727234"/>
                    </a:ext>
                  </a:extLst>
                </a:gridCol>
                <a:gridCol w="1371760">
                  <a:extLst>
                    <a:ext uri="{9D8B030D-6E8A-4147-A177-3AD203B41FA5}">
                      <a16:colId xmlns:a16="http://schemas.microsoft.com/office/drawing/2014/main" val="1241433915"/>
                    </a:ext>
                  </a:extLst>
                </a:gridCol>
                <a:gridCol w="1371760">
                  <a:extLst>
                    <a:ext uri="{9D8B030D-6E8A-4147-A177-3AD203B41FA5}">
                      <a16:colId xmlns:a16="http://schemas.microsoft.com/office/drawing/2014/main" val="1109469584"/>
                    </a:ext>
                  </a:extLst>
                </a:gridCol>
                <a:gridCol w="1371760">
                  <a:extLst>
                    <a:ext uri="{9D8B030D-6E8A-4147-A177-3AD203B41FA5}">
                      <a16:colId xmlns:a16="http://schemas.microsoft.com/office/drawing/2014/main" val="870620543"/>
                    </a:ext>
                  </a:extLst>
                </a:gridCol>
                <a:gridCol w="1473389">
                  <a:extLst>
                    <a:ext uri="{9D8B030D-6E8A-4147-A177-3AD203B41FA5}">
                      <a16:colId xmlns:a16="http://schemas.microsoft.com/office/drawing/2014/main" val="149962748"/>
                    </a:ext>
                  </a:extLst>
                </a:gridCol>
                <a:gridCol w="2267221">
                  <a:extLst>
                    <a:ext uri="{9D8B030D-6E8A-4147-A177-3AD203B41FA5}">
                      <a16:colId xmlns:a16="http://schemas.microsoft.com/office/drawing/2014/main" val="3808107483"/>
                    </a:ext>
                  </a:extLst>
                </a:gridCol>
              </a:tblGrid>
              <a:tr h="1152633">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Feature / Capability</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Lightweight Food Image Recognition (YOLOv8)</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Intelligent Food Identification (YOLOv8 + SFPN)</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Food Image Recognition &amp; Calorie Prediction (Mask R-CNN)</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Food Detection and Recognition: A Comparative Study</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Deep Learning Framework for Nutrition Assessment</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Calorie Estimation of Food and Beverages (CNN)</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Your Paper (YOLOv8 + NLP + Nutrition Tracking)</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extLst>
                  <a:ext uri="{0D108BD9-81ED-4DB2-BD59-A6C34878D82A}">
                    <a16:rowId xmlns:a16="http://schemas.microsoft.com/office/drawing/2014/main" val="2911703085"/>
                  </a:ext>
                </a:extLst>
              </a:tr>
              <a:tr h="558536">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Model Type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YOLOv8n + GM + CBAM </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YOLOv8 + BiTrains + SFPN</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Mask R-CNN (ResNet-101)</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YOLOv5, Faster-RCNN, SSD, etc.</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YOLOv8m</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CNN with edge-based feature extraction</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YOLOv8 + NLP + custom JSON</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extLst>
                  <a:ext uri="{0D108BD9-81ED-4DB2-BD59-A6C34878D82A}">
                    <a16:rowId xmlns:a16="http://schemas.microsoft.com/office/drawing/2014/main" val="2437514249"/>
                  </a:ext>
                </a:extLst>
              </a:tr>
              <a:tr h="558536">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Accuracy</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91.4% mAP@0.5</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96.7% mAP@0.5</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90% on 6-class dataset</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YOLOv5: 93.5%, Faster-RCNN: 77%</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79.4% on 100-class dataset</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94.47% classification accuracy</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95.1% </a:t>
                      </a:r>
                      <a:r>
                        <a:rPr lang="en-IN" sz="1100" dirty="0" err="1">
                          <a:effectLst/>
                          <a:latin typeface="Times New Roman" panose="02020603050405020304" pitchFamily="18" charset="0"/>
                          <a:cs typeface="Times New Roman" panose="02020603050405020304" pitchFamily="18" charset="0"/>
                        </a:rPr>
                        <a:t>mAP</a:t>
                      </a:r>
                      <a:r>
                        <a:rPr lang="en-IN" sz="1100" dirty="0">
                          <a:effectLst/>
                          <a:latin typeface="Times New Roman" panose="02020603050405020304" pitchFamily="18" charset="0"/>
                          <a:cs typeface="Times New Roman" panose="02020603050405020304" pitchFamily="18" charset="0"/>
                        </a:rPr>
                        <a:t> (YOLOv8) + 93% adjusted calorie accuracy</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extLst>
                  <a:ext uri="{0D108BD9-81ED-4DB2-BD59-A6C34878D82A}">
                    <a16:rowId xmlns:a16="http://schemas.microsoft.com/office/drawing/2014/main" val="386052210"/>
                  </a:ext>
                </a:extLst>
              </a:tr>
              <a:tr h="558536">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Calorie Estimation</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No</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No</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Yes (basic area × calorie density)</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No</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Yes (volume + density based)</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Yes (volume via object reference)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Yes (volume + NLP + modifiers)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extLst>
                  <a:ext uri="{0D108BD9-81ED-4DB2-BD59-A6C34878D82A}">
                    <a16:rowId xmlns:a16="http://schemas.microsoft.com/office/drawing/2014/main" val="3526978910"/>
                  </a:ext>
                </a:extLst>
              </a:tr>
              <a:tr h="558536">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Nutrition Details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No</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No</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Only calorie</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No</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Yes (calories, protein, carbs, fat)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Only calorie</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Yes (calories, protein, fat, carbs)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extLst>
                  <a:ext uri="{0D108BD9-81ED-4DB2-BD59-A6C34878D82A}">
                    <a16:rowId xmlns:a16="http://schemas.microsoft.com/office/drawing/2014/main" val="3802528398"/>
                  </a:ext>
                </a:extLst>
              </a:tr>
              <a:tr h="558536">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NLP Modifier Support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No</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No</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No</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No</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No</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No</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Yes (butter, hotel, homemade, extra, etc.)</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extLst>
                  <a:ext uri="{0D108BD9-81ED-4DB2-BD59-A6C34878D82A}">
                    <a16:rowId xmlns:a16="http://schemas.microsoft.com/office/drawing/2014/main" val="4289601371"/>
                  </a:ext>
                </a:extLst>
              </a:tr>
              <a:tr h="558536">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Model Optimization</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Yes (low FLOPs, real-time)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Yes (multi-scale, light attention)</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No</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No</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Partial</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No</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Yes (real-time + NLP pipeline)</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extLst>
                  <a:ext uri="{0D108BD9-81ED-4DB2-BD59-A6C34878D82A}">
                    <a16:rowId xmlns:a16="http://schemas.microsoft.com/office/drawing/2014/main" val="3421911489"/>
                  </a:ext>
                </a:extLst>
              </a:tr>
              <a:tr h="558536">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Dataset Used</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Custom (30-class food dataset)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Custom (2650 images)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6-class small dataset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UEC FOOD 100/256, School Lunch datasets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95,000+ food images (custom)</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15 fruits dataset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US" sz="1100" dirty="0">
                          <a:effectLst/>
                          <a:latin typeface="Times New Roman" panose="02020603050405020304" pitchFamily="18" charset="0"/>
                          <a:cs typeface="Times New Roman" panose="02020603050405020304" pitchFamily="18" charset="0"/>
                        </a:rPr>
                        <a:t>IndianFood-7 (~3500 images) </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extLst>
                  <a:ext uri="{0D108BD9-81ED-4DB2-BD59-A6C34878D82A}">
                    <a16:rowId xmlns:a16="http://schemas.microsoft.com/office/drawing/2014/main" val="1740419830"/>
                  </a:ext>
                </a:extLst>
              </a:tr>
              <a:tr h="809238">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Strengths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Lightweight model, good for edge devices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Robust to lighting, semi-supervised learning</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Good segmentation, calorie approx. possible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Broad model evaluation</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Full nutrition pipeline + deployment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Works with volume and object-based estimation</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NLP-aware, full nutrition breakdown, real-world usable</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extLst>
                  <a:ext uri="{0D108BD9-81ED-4DB2-BD59-A6C34878D82A}">
                    <a16:rowId xmlns:a16="http://schemas.microsoft.com/office/drawing/2014/main" val="3750038739"/>
                  </a:ext>
                </a:extLst>
              </a:tr>
              <a:tr h="558536">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Limitations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No calorie/nutrition estimation</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No calorie/nutrition support</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Limited food types, segmentation-only</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No calorie/nutrition estimation</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No segmentation or NLP support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a:effectLst/>
                          <a:latin typeface="Times New Roman" panose="02020603050405020304" pitchFamily="18" charset="0"/>
                          <a:cs typeface="Times New Roman" panose="02020603050405020304" pitchFamily="18" charset="0"/>
                        </a:rPr>
                        <a:t>Limited to fruits only</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tc>
                  <a:txBody>
                    <a:bodyPr/>
                    <a:lstStyle/>
                    <a:p>
                      <a:pPr algn="ctr">
                        <a:lnSpc>
                          <a:spcPct val="150000"/>
                        </a:lnSpc>
                        <a:buNone/>
                      </a:pPr>
                      <a:r>
                        <a:rPr lang="en-IN" sz="1100" dirty="0">
                          <a:effectLst/>
                          <a:latin typeface="Times New Roman" panose="02020603050405020304" pitchFamily="18" charset="0"/>
                          <a:cs typeface="Times New Roman" panose="02020603050405020304" pitchFamily="18" charset="0"/>
                        </a:rPr>
                        <a:t>Currently 2D (no depth), relies on area estimation only</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0398" marR="30398" marT="0" marB="0"/>
                </a:tc>
                <a:extLst>
                  <a:ext uri="{0D108BD9-81ED-4DB2-BD59-A6C34878D82A}">
                    <a16:rowId xmlns:a16="http://schemas.microsoft.com/office/drawing/2014/main" val="200717198"/>
                  </a:ext>
                </a:extLst>
              </a:tr>
            </a:tbl>
          </a:graphicData>
        </a:graphic>
      </p:graphicFrame>
    </p:spTree>
    <p:extLst>
      <p:ext uri="{BB962C8B-B14F-4D97-AF65-F5344CB8AC3E}">
        <p14:creationId xmlns:p14="http://schemas.microsoft.com/office/powerpoint/2010/main" val="4941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3BBC4-8F50-2920-6D73-6A18089C8F12}"/>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 OBJECTIVES OF  INVESTIGATION</a:t>
            </a:r>
          </a:p>
        </p:txBody>
      </p:sp>
      <p:sp>
        <p:nvSpPr>
          <p:cNvPr id="3" name="Content Placeholder 2">
            <a:extLst>
              <a:ext uri="{FF2B5EF4-FFF2-40B4-BE49-F238E27FC236}">
                <a16:creationId xmlns:a16="http://schemas.microsoft.com/office/drawing/2014/main" id="{A021A769-9CFC-953A-A3EA-776A4EB7A179}"/>
              </a:ext>
            </a:extLst>
          </p:cNvPr>
          <p:cNvSpPr>
            <a:spLocks noGrp="1"/>
          </p:cNvSpPr>
          <p:nvPr>
            <p:ph sz="quarter" idx="13"/>
          </p:nvPr>
        </p:nvSpPr>
        <p:spPr>
          <a:xfrm>
            <a:off x="594359" y="2281918"/>
            <a:ext cx="7330441" cy="4504962"/>
          </a:xfrm>
        </p:spPr>
        <p:txBody>
          <a:bodyPr>
            <a:normAutofit fontScale="92500" lnSpcReduction="10000"/>
          </a:bodyPr>
          <a:lstStyle/>
          <a:p>
            <a:pPr algn="just"/>
            <a:r>
              <a:rPr lang="en-US" sz="1800" b="0" dirty="0">
                <a:latin typeface="Times New Roman" panose="02020603050405020304" pitchFamily="18" charset="0"/>
                <a:cs typeface="Times New Roman" panose="02020603050405020304" pitchFamily="18" charset="0"/>
              </a:rPr>
              <a:t>To design a practical solution for estimating food calories using a combination of computer vision and language understanding, addressing the growing need for automated dietary assessment.</a:t>
            </a:r>
          </a:p>
          <a:p>
            <a:pPr algn="just"/>
            <a:r>
              <a:rPr lang="en-US" sz="1800" b="0" dirty="0">
                <a:latin typeface="Times New Roman" panose="02020603050405020304" pitchFamily="18" charset="0"/>
                <a:cs typeface="Times New Roman" panose="02020603050405020304" pitchFamily="18" charset="0"/>
              </a:rPr>
              <a:t>To apply object detection techniques, specifically YOLOv8n, for recognizing multiple food items within a single image, especially those commonly found in Indian meals.</a:t>
            </a:r>
          </a:p>
          <a:p>
            <a:pPr algn="just"/>
            <a:r>
              <a:rPr lang="en-US" sz="1800" b="0" dirty="0">
                <a:latin typeface="Times New Roman" panose="02020603050405020304" pitchFamily="18" charset="0"/>
                <a:cs typeface="Times New Roman" panose="02020603050405020304" pitchFamily="18" charset="0"/>
              </a:rPr>
              <a:t>To integrate Natural Language Processing (NLP)—using the </a:t>
            </a:r>
            <a:r>
              <a:rPr lang="en-US" sz="1800" b="0" dirty="0" err="1">
                <a:latin typeface="Times New Roman" panose="02020603050405020304" pitchFamily="18" charset="0"/>
                <a:cs typeface="Times New Roman" panose="02020603050405020304" pitchFamily="18" charset="0"/>
              </a:rPr>
              <a:t>spaCy</a:t>
            </a:r>
            <a:r>
              <a:rPr lang="en-US" sz="1800" b="0" dirty="0">
                <a:latin typeface="Times New Roman" panose="02020603050405020304" pitchFamily="18" charset="0"/>
                <a:cs typeface="Times New Roman" panose="02020603050405020304" pitchFamily="18" charset="0"/>
              </a:rPr>
              <a:t> library—for interpreting user-provided food descriptions, allowing the system to consider factors like preparation method or source (e.g., "homemade", "extra butter", "from hotel") when estimating calorie content through context-aware modifier adjustments.</a:t>
            </a:r>
          </a:p>
          <a:p>
            <a:pPr algn="just"/>
            <a:r>
              <a:rPr lang="en-US" sz="1800" b="0" dirty="0">
                <a:latin typeface="Times New Roman" panose="02020603050405020304" pitchFamily="18" charset="0"/>
                <a:cs typeface="Times New Roman" panose="02020603050405020304" pitchFamily="18" charset="0"/>
              </a:rPr>
              <a:t>To move beyond static calorie databases by developing a system that adapts calorie estimates based on contextual cues, making it more suitable for real-world eating scenarios.</a:t>
            </a:r>
          </a:p>
          <a:p>
            <a:pPr algn="just"/>
            <a:r>
              <a:rPr lang="en-US" sz="1800" b="0" dirty="0">
                <a:latin typeface="Times New Roman" panose="02020603050405020304" pitchFamily="18" charset="0"/>
                <a:cs typeface="Times New Roman" panose="02020603050405020304" pitchFamily="18" charset="0"/>
              </a:rPr>
              <a:t>To evaluate the accuracy and performance of the system by comparing predicted calorie values with manually calculated references, and to identify areas for improvement through empirical testing.</a:t>
            </a:r>
            <a:endParaRPr lang="en-IN" sz="18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8969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DD2AF-E966-28B6-50DA-790E299CAC02}"/>
              </a:ext>
            </a:extLst>
          </p:cNvPr>
          <p:cNvSpPr>
            <a:spLocks noGrp="1"/>
          </p:cNvSpPr>
          <p:nvPr>
            <p:ph type="title"/>
          </p:nvPr>
        </p:nvSpPr>
        <p:spPr>
          <a:xfrm>
            <a:off x="594360" y="189572"/>
            <a:ext cx="6787747" cy="441799"/>
          </a:xfrm>
        </p:spPr>
        <p:txBody>
          <a:bodyPr/>
          <a:lstStyle/>
          <a:p>
            <a:r>
              <a:rPr lang="en-IN" sz="3200" dirty="0">
                <a:latin typeface="Times New Roman" panose="02020603050405020304" pitchFamily="18" charset="0"/>
                <a:cs typeface="Times New Roman" panose="02020603050405020304" pitchFamily="18" charset="0"/>
              </a:rPr>
              <a:t>DATASET</a:t>
            </a:r>
          </a:p>
        </p:txBody>
      </p:sp>
      <p:sp>
        <p:nvSpPr>
          <p:cNvPr id="3" name="Content Placeholder 2">
            <a:extLst>
              <a:ext uri="{FF2B5EF4-FFF2-40B4-BE49-F238E27FC236}">
                <a16:creationId xmlns:a16="http://schemas.microsoft.com/office/drawing/2014/main" id="{54103B7A-97F3-153B-502F-D20CAA7BB5DA}"/>
              </a:ext>
            </a:extLst>
          </p:cNvPr>
          <p:cNvSpPr>
            <a:spLocks noGrp="1"/>
          </p:cNvSpPr>
          <p:nvPr>
            <p:ph sz="quarter" idx="13"/>
          </p:nvPr>
        </p:nvSpPr>
        <p:spPr>
          <a:xfrm>
            <a:off x="485502" y="631370"/>
            <a:ext cx="11554098" cy="6037057"/>
          </a:xfrm>
        </p:spPr>
        <p:txBody>
          <a:bodyPr>
            <a:normAutofit/>
          </a:bodyPr>
          <a:lstStyle/>
          <a:p>
            <a:pPr algn="just"/>
            <a:r>
              <a:rPr lang="en-IN" sz="1800" b="0" dirty="0">
                <a:latin typeface="Times New Roman" panose="02020603050405020304" pitchFamily="18" charset="0"/>
                <a:cs typeface="Times New Roman" panose="02020603050405020304" pitchFamily="18" charset="0"/>
              </a:rPr>
              <a:t>Roboflow Team, “Indian Food Detection Dataset” </a:t>
            </a:r>
          </a:p>
          <a:p>
            <a:pPr algn="just"/>
            <a:r>
              <a:rPr lang="en-US" sz="1800" b="0" dirty="0">
                <a:latin typeface="Times New Roman" panose="02020603050405020304" pitchFamily="18" charset="0"/>
                <a:cs typeface="Times New Roman" panose="02020603050405020304" pitchFamily="18" charset="0"/>
              </a:rPr>
              <a:t>~3500 annotated images across 7 classes</a:t>
            </a:r>
          </a:p>
          <a:p>
            <a:pPr algn="just"/>
            <a:r>
              <a:rPr lang="en-IN" sz="1800" b="0" dirty="0">
                <a:latin typeface="Times New Roman" panose="02020603050405020304" pitchFamily="18" charset="0"/>
                <a:cs typeface="Times New Roman" panose="02020603050405020304" pitchFamily="18" charset="0"/>
              </a:rPr>
              <a:t>Trained with YOLOv8n for 50 epochs</a:t>
            </a:r>
            <a:endParaRPr lang="en-US" sz="1800" b="0" dirty="0">
              <a:latin typeface="Times New Roman" panose="02020603050405020304" pitchFamily="18" charset="0"/>
              <a:cs typeface="Times New Roman" panose="02020603050405020304" pitchFamily="18" charset="0"/>
            </a:endParaRPr>
          </a:p>
          <a:p>
            <a:pPr algn="just"/>
            <a:r>
              <a:rPr lang="en-IN" sz="1800" b="0" dirty="0">
                <a:latin typeface="Times New Roman" panose="02020603050405020304" pitchFamily="18" charset="0"/>
                <a:cs typeface="Times New Roman" panose="02020603050405020304" pitchFamily="18" charset="0"/>
              </a:rPr>
              <a:t>YOLO format bounding boxes used for labelling</a:t>
            </a:r>
          </a:p>
          <a:p>
            <a:pPr algn="just"/>
            <a:endParaRPr lang="en-IN" sz="18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E9D89AD5-6226-F2C5-87E3-0E551030D889}"/>
              </a:ext>
            </a:extLst>
          </p:cNvPr>
          <p:cNvGraphicFramePr>
            <a:graphicFrameLocks noGrp="1"/>
          </p:cNvGraphicFramePr>
          <p:nvPr>
            <p:extLst>
              <p:ext uri="{D42A27DB-BD31-4B8C-83A1-F6EECF244321}">
                <p14:modId xmlns:p14="http://schemas.microsoft.com/office/powerpoint/2010/main" val="3605741996"/>
              </p:ext>
            </p:extLst>
          </p:nvPr>
        </p:nvGraphicFramePr>
        <p:xfrm>
          <a:off x="714102" y="3080656"/>
          <a:ext cx="10381615" cy="3505200"/>
        </p:xfrm>
        <a:graphic>
          <a:graphicData uri="http://schemas.openxmlformats.org/drawingml/2006/table">
            <a:tbl>
              <a:tblPr firstRow="1" firstCol="1" bandRow="1">
                <a:tableStyleId>{3C2FFA5D-87B4-456A-9821-1D502468CF0F}</a:tableStyleId>
              </a:tblPr>
              <a:tblGrid>
                <a:gridCol w="2076323">
                  <a:extLst>
                    <a:ext uri="{9D8B030D-6E8A-4147-A177-3AD203B41FA5}">
                      <a16:colId xmlns:a16="http://schemas.microsoft.com/office/drawing/2014/main" val="293595224"/>
                    </a:ext>
                  </a:extLst>
                </a:gridCol>
                <a:gridCol w="2076323">
                  <a:extLst>
                    <a:ext uri="{9D8B030D-6E8A-4147-A177-3AD203B41FA5}">
                      <a16:colId xmlns:a16="http://schemas.microsoft.com/office/drawing/2014/main" val="1841387693"/>
                    </a:ext>
                  </a:extLst>
                </a:gridCol>
                <a:gridCol w="2076323">
                  <a:extLst>
                    <a:ext uri="{9D8B030D-6E8A-4147-A177-3AD203B41FA5}">
                      <a16:colId xmlns:a16="http://schemas.microsoft.com/office/drawing/2014/main" val="3338342855"/>
                    </a:ext>
                  </a:extLst>
                </a:gridCol>
                <a:gridCol w="2076323">
                  <a:extLst>
                    <a:ext uri="{9D8B030D-6E8A-4147-A177-3AD203B41FA5}">
                      <a16:colId xmlns:a16="http://schemas.microsoft.com/office/drawing/2014/main" val="2473043244"/>
                    </a:ext>
                  </a:extLst>
                </a:gridCol>
                <a:gridCol w="2076323">
                  <a:extLst>
                    <a:ext uri="{9D8B030D-6E8A-4147-A177-3AD203B41FA5}">
                      <a16:colId xmlns:a16="http://schemas.microsoft.com/office/drawing/2014/main" val="113782202"/>
                    </a:ext>
                  </a:extLst>
                </a:gridCol>
              </a:tblGrid>
              <a:tr h="438150">
                <a:tc>
                  <a:txBody>
                    <a:bodyPr/>
                    <a:lstStyle/>
                    <a:p>
                      <a:pPr algn="ctr">
                        <a:lnSpc>
                          <a:spcPct val="150000"/>
                        </a:lnSpc>
                        <a:buNone/>
                      </a:pPr>
                      <a:r>
                        <a:rPr lang="en-IN" sz="1400" dirty="0">
                          <a:effectLst/>
                          <a:latin typeface="Times New Roman" panose="02020603050405020304" pitchFamily="18" charset="0"/>
                          <a:cs typeface="Times New Roman" panose="02020603050405020304" pitchFamily="18" charset="0"/>
                        </a:rPr>
                        <a:t>Food Item</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Calories (kcal)</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Protein (g)</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Fat (g)</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Carbohydrates (g)</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308154401"/>
                  </a:ext>
                </a:extLst>
              </a:tr>
              <a:tr h="438150">
                <a:tc>
                  <a:txBody>
                    <a:bodyPr/>
                    <a:lstStyle/>
                    <a:p>
                      <a:pPr algn="ctr">
                        <a:lnSpc>
                          <a:spcPct val="150000"/>
                        </a:lnSpc>
                        <a:buNone/>
                      </a:pPr>
                      <a:r>
                        <a:rPr lang="en-IN" sz="1400" dirty="0" err="1">
                          <a:effectLst/>
                          <a:latin typeface="Times New Roman" panose="02020603050405020304" pitchFamily="18" charset="0"/>
                          <a:cs typeface="Times New Roman" panose="02020603050405020304" pitchFamily="18" charset="0"/>
                        </a:rPr>
                        <a:t>Idli</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58</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1.6</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0.4</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12</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53105054"/>
                  </a:ext>
                </a:extLst>
              </a:tr>
              <a:tr h="438150">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Poha</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180</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3.0</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5.0</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30</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7664781"/>
                  </a:ext>
                </a:extLst>
              </a:tr>
              <a:tr h="438150">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Samosa</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260</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3.0</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17.0</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25</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29980693"/>
                  </a:ext>
                </a:extLst>
              </a:tr>
              <a:tr h="438150">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Palak Paneer</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240</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8.0</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18.0</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10</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28372376"/>
                  </a:ext>
                </a:extLst>
              </a:tr>
              <a:tr h="438150">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Besan Cheela</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200</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7.0</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9.0</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18</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30597753"/>
                  </a:ext>
                </a:extLst>
              </a:tr>
              <a:tr h="438150">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Dosa</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133</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2.5</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4.0</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21</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53517006"/>
                  </a:ext>
                </a:extLst>
              </a:tr>
              <a:tr h="438150">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Gulab Jamun</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150</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2.0</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a:effectLst/>
                          <a:latin typeface="Times New Roman" panose="02020603050405020304" pitchFamily="18" charset="0"/>
                          <a:cs typeface="Times New Roman" panose="02020603050405020304" pitchFamily="18" charset="0"/>
                        </a:rPr>
                        <a:t>5.0</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lnSpc>
                          <a:spcPct val="150000"/>
                        </a:lnSpc>
                        <a:buNone/>
                      </a:pPr>
                      <a:r>
                        <a:rPr lang="en-IN" sz="1400" dirty="0">
                          <a:effectLst/>
                          <a:latin typeface="Times New Roman" panose="02020603050405020304" pitchFamily="18" charset="0"/>
                          <a:cs typeface="Times New Roman" panose="02020603050405020304" pitchFamily="18" charset="0"/>
                        </a:rPr>
                        <a:t>28</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08520872"/>
                  </a:ext>
                </a:extLst>
              </a:tr>
            </a:tbl>
          </a:graphicData>
        </a:graphic>
      </p:graphicFrame>
      <p:sp>
        <p:nvSpPr>
          <p:cNvPr id="7" name="TextBox 6">
            <a:extLst>
              <a:ext uri="{FF2B5EF4-FFF2-40B4-BE49-F238E27FC236}">
                <a16:creationId xmlns:a16="http://schemas.microsoft.com/office/drawing/2014/main" id="{99879CF7-CA70-1195-2EC3-F42BCEE82C72}"/>
              </a:ext>
            </a:extLst>
          </p:cNvPr>
          <p:cNvSpPr txBox="1"/>
          <p:nvPr/>
        </p:nvSpPr>
        <p:spPr>
          <a:xfrm>
            <a:off x="594360" y="2772878"/>
            <a:ext cx="6096000" cy="307777"/>
          </a:xfrm>
          <a:prstGeom prst="rect">
            <a:avLst/>
          </a:prstGeom>
          <a:noFill/>
        </p:spPr>
        <p:txBody>
          <a:bodyPr wrap="square">
            <a:spAutoFit/>
          </a:bodyPr>
          <a:lstStyle/>
          <a:p>
            <a:r>
              <a:rPr lang="en-IN" sz="1400" b="1" dirty="0">
                <a:solidFill>
                  <a:schemeClr val="bg1"/>
                </a:solidFill>
                <a:latin typeface="Times New Roman" panose="02020603050405020304" pitchFamily="18" charset="0"/>
                <a:cs typeface="Times New Roman" panose="02020603050405020304" pitchFamily="18" charset="0"/>
              </a:rPr>
              <a:t>Table 2: Dataset of </a:t>
            </a:r>
            <a:r>
              <a:rPr lang="en-US" sz="1400" b="1" dirty="0">
                <a:solidFill>
                  <a:schemeClr val="bg1"/>
                </a:solidFill>
                <a:latin typeface="Times New Roman" panose="02020603050405020304" pitchFamily="18" charset="0"/>
                <a:cs typeface="Times New Roman" panose="02020603050405020304" pitchFamily="18" charset="0"/>
              </a:rPr>
              <a:t>Image-Based Food Recognition of base Calorie Estimation</a:t>
            </a:r>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9" name="Minus Sign 8">
            <a:extLst>
              <a:ext uri="{FF2B5EF4-FFF2-40B4-BE49-F238E27FC236}">
                <a16:creationId xmlns:a16="http://schemas.microsoft.com/office/drawing/2014/main" id="{8D7E5211-B415-596A-4B17-6CBC42819317}"/>
              </a:ext>
            </a:extLst>
          </p:cNvPr>
          <p:cNvSpPr/>
          <p:nvPr/>
        </p:nvSpPr>
        <p:spPr>
          <a:xfrm>
            <a:off x="152400" y="433897"/>
            <a:ext cx="3946727" cy="477520"/>
          </a:xfrm>
          <a:prstGeom prst="mathMinus">
            <a:avLst/>
          </a:prstGeom>
          <a:solidFill>
            <a:schemeClr val="tx2">
              <a:lumMod val="7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92368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4B39F-C3EF-F035-397D-BAECBE0CBFF7}"/>
              </a:ext>
            </a:extLst>
          </p:cNvPr>
          <p:cNvSpPr>
            <a:spLocks noGrp="1"/>
          </p:cNvSpPr>
          <p:nvPr>
            <p:ph type="title"/>
          </p:nvPr>
        </p:nvSpPr>
        <p:spPr>
          <a:xfrm>
            <a:off x="594360" y="189573"/>
            <a:ext cx="6787747" cy="460668"/>
          </a:xfrm>
        </p:spPr>
        <p:txBody>
          <a:bodyPr/>
          <a:lstStyle/>
          <a:p>
            <a:r>
              <a:rPr lang="en-IN" sz="3200"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8C5C4EC4-627F-2311-6940-3E33D2338E8A}"/>
              </a:ext>
            </a:extLst>
          </p:cNvPr>
          <p:cNvSpPr>
            <a:spLocks noGrp="1"/>
          </p:cNvSpPr>
          <p:nvPr>
            <p:ph sz="quarter" idx="13"/>
          </p:nvPr>
        </p:nvSpPr>
        <p:spPr>
          <a:xfrm>
            <a:off x="153569" y="777241"/>
            <a:ext cx="7110831" cy="6035040"/>
          </a:xfrm>
        </p:spPr>
        <p:txBody>
          <a:bodyPr>
            <a:normAutofit/>
          </a:bodyPr>
          <a:lstStyle/>
          <a:p>
            <a:pPr algn="just">
              <a:lnSpc>
                <a:spcPct val="100000"/>
              </a:lnSpc>
            </a:pPr>
            <a:r>
              <a:rPr lang="en-US" sz="1800" b="0" dirty="0">
                <a:latin typeface="Times New Roman" panose="02020603050405020304" pitchFamily="18" charset="0"/>
                <a:cs typeface="Times New Roman" panose="02020603050405020304" pitchFamily="18" charset="0"/>
              </a:rPr>
              <a:t>The proposed system integrates computer vision and natural language processing to automatically estimate food calories from real-world images.</a:t>
            </a:r>
          </a:p>
          <a:p>
            <a:pPr algn="just">
              <a:lnSpc>
                <a:spcPct val="100000"/>
              </a:lnSpc>
            </a:pPr>
            <a:r>
              <a:rPr lang="en-US" sz="1800" b="0" dirty="0">
                <a:latin typeface="Times New Roman" panose="02020603050405020304" pitchFamily="18" charset="0"/>
                <a:cs typeface="Times New Roman" panose="02020603050405020304" pitchFamily="18" charset="0"/>
              </a:rPr>
              <a:t>As shown in Figure 1: Overall System Design, the process begins with an image input, which is analyzed using a custom-trained YOLOv8 model to detect and classify food items.</a:t>
            </a:r>
          </a:p>
          <a:p>
            <a:pPr algn="just">
              <a:lnSpc>
                <a:spcPct val="100000"/>
              </a:lnSpc>
            </a:pPr>
            <a:r>
              <a:rPr lang="en-US" sz="1800" b="0" dirty="0">
                <a:latin typeface="Times New Roman" panose="02020603050405020304" pitchFamily="18" charset="0"/>
                <a:cs typeface="Times New Roman" panose="02020603050405020304" pitchFamily="18" charset="0"/>
              </a:rPr>
              <a:t>Alongside, the user provides a short textual description (e.g., “butter dosa from hotel”), which is parsed using an NLP module to extract contextual cues like preparation style or food source.</a:t>
            </a:r>
          </a:p>
          <a:p>
            <a:pPr algn="just">
              <a:lnSpc>
                <a:spcPct val="100000"/>
              </a:lnSpc>
            </a:pPr>
            <a:r>
              <a:rPr lang="en-US" sz="1800" b="0" dirty="0">
                <a:latin typeface="Times New Roman" panose="02020603050405020304" pitchFamily="18" charset="0"/>
                <a:cs typeface="Times New Roman" panose="02020603050405020304" pitchFamily="18" charset="0"/>
              </a:rPr>
              <a:t>Detected items are matched with a JSON-based calorie reference table, and adjustments are applied based on the parsed context (e.g., “fried” adds calories, “homemade” reduces them).The adjusted calorie values are then presented to the user in real time, enhancing the system’s accuracy and personalization.</a:t>
            </a:r>
          </a:p>
        </p:txBody>
      </p:sp>
      <p:pic>
        <p:nvPicPr>
          <p:cNvPr id="4" name="Picture 3">
            <a:extLst>
              <a:ext uri="{FF2B5EF4-FFF2-40B4-BE49-F238E27FC236}">
                <a16:creationId xmlns:a16="http://schemas.microsoft.com/office/drawing/2014/main" id="{0302331D-2EDA-070F-E00B-259C3D22FA4E}"/>
              </a:ext>
            </a:extLst>
          </p:cNvPr>
          <p:cNvPicPr>
            <a:picLocks noChangeAspect="1"/>
          </p:cNvPicPr>
          <p:nvPr/>
        </p:nvPicPr>
        <p:blipFill rotWithShape="1">
          <a:blip r:embed="rId2">
            <a:extLst>
              <a:ext uri="{28A0092B-C50C-407E-A947-70E740481C1C}">
                <a14:useLocalDpi xmlns:a14="http://schemas.microsoft.com/office/drawing/2010/main" val="0"/>
              </a:ext>
            </a:extLst>
          </a:blip>
          <a:srcRect l="5930"/>
          <a:stretch>
            <a:fillRect/>
          </a:stretch>
        </p:blipFill>
        <p:spPr bwMode="auto">
          <a:xfrm>
            <a:off x="8967946" y="2110987"/>
            <a:ext cx="1418907" cy="2850833"/>
          </a:xfrm>
          <a:prstGeom prst="rect">
            <a:avLst/>
          </a:prstGeom>
          <a:ln>
            <a:noFill/>
          </a:ln>
          <a:extLst>
            <a:ext uri="{53640926-AAD7-44D8-BBD7-CCE9431645EC}">
              <a14:shadowObscured xmlns:a14="http://schemas.microsoft.com/office/drawing/2010/main"/>
            </a:ext>
          </a:extLst>
        </p:spPr>
      </p:pic>
      <p:sp>
        <p:nvSpPr>
          <p:cNvPr id="10" name="TextBox 9">
            <a:extLst>
              <a:ext uri="{FF2B5EF4-FFF2-40B4-BE49-F238E27FC236}">
                <a16:creationId xmlns:a16="http://schemas.microsoft.com/office/drawing/2014/main" id="{B2B8BDE5-B2D9-DBA1-438D-970200CCC7D5}"/>
              </a:ext>
            </a:extLst>
          </p:cNvPr>
          <p:cNvSpPr txBox="1"/>
          <p:nvPr/>
        </p:nvSpPr>
        <p:spPr>
          <a:xfrm>
            <a:off x="7698059" y="4961820"/>
            <a:ext cx="4493941" cy="400110"/>
          </a:xfrm>
          <a:prstGeom prst="rect">
            <a:avLst/>
          </a:prstGeom>
          <a:noFill/>
        </p:spPr>
        <p:txBody>
          <a:bodyPr wrap="square">
            <a:spAutoFit/>
          </a:bodyPr>
          <a:lstStyle/>
          <a:p>
            <a:pPr algn="ctr"/>
            <a:r>
              <a:rPr lang="en-US" sz="1000" b="1" dirty="0">
                <a:solidFill>
                  <a:schemeClr val="bg1"/>
                </a:solidFill>
                <a:latin typeface="Times New Roman" panose="02020603050405020304" pitchFamily="18" charset="0"/>
                <a:cs typeface="Times New Roman" panose="02020603050405020304" pitchFamily="18" charset="0"/>
              </a:rPr>
              <a:t>Figure 1: Overall System Design of Image-Based Food Recognition for Calorie Detection</a:t>
            </a:r>
            <a:endParaRPr lang="en-IN" sz="1000" b="1" dirty="0">
              <a:solidFill>
                <a:schemeClr val="bg1"/>
              </a:solidFill>
            </a:endParaRPr>
          </a:p>
        </p:txBody>
      </p:sp>
      <p:sp>
        <p:nvSpPr>
          <p:cNvPr id="15" name="Minus Sign 14">
            <a:extLst>
              <a:ext uri="{FF2B5EF4-FFF2-40B4-BE49-F238E27FC236}">
                <a16:creationId xmlns:a16="http://schemas.microsoft.com/office/drawing/2014/main" id="{89F0FDA3-930C-2929-2C95-722C1B21C1FC}"/>
              </a:ext>
            </a:extLst>
          </p:cNvPr>
          <p:cNvSpPr/>
          <p:nvPr/>
        </p:nvSpPr>
        <p:spPr>
          <a:xfrm>
            <a:off x="153569" y="538481"/>
            <a:ext cx="3946727" cy="477520"/>
          </a:xfrm>
          <a:prstGeom prst="mathMinus">
            <a:avLst/>
          </a:prstGeom>
          <a:solidFill>
            <a:schemeClr val="tx2">
              <a:lumMod val="7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4280133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C0826-FA8C-CB5E-74D2-6531873B4C9D}"/>
              </a:ext>
            </a:extLst>
          </p:cNvPr>
          <p:cNvSpPr>
            <a:spLocks noGrp="1"/>
          </p:cNvSpPr>
          <p:nvPr>
            <p:ph type="title"/>
          </p:nvPr>
        </p:nvSpPr>
        <p:spPr>
          <a:xfrm>
            <a:off x="314960" y="1"/>
            <a:ext cx="7382107" cy="660400"/>
          </a:xfrm>
        </p:spPr>
        <p:txBody>
          <a:bodyPr/>
          <a:lstStyle/>
          <a:p>
            <a:r>
              <a:rPr lang="en-US" sz="3200" dirty="0">
                <a:latin typeface="Times New Roman" panose="02020603050405020304" pitchFamily="18" charset="0"/>
                <a:cs typeface="Times New Roman" panose="02020603050405020304" pitchFamily="18" charset="0"/>
              </a:rPr>
              <a:t> RESULT</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BFE815F-49A6-ADF2-2B17-E76731814DF9}"/>
              </a:ext>
            </a:extLst>
          </p:cNvPr>
          <p:cNvSpPr>
            <a:spLocks noGrp="1"/>
          </p:cNvSpPr>
          <p:nvPr>
            <p:ph sz="quarter" idx="13"/>
          </p:nvPr>
        </p:nvSpPr>
        <p:spPr>
          <a:xfrm>
            <a:off x="326878" y="935302"/>
            <a:ext cx="7310987" cy="5957784"/>
          </a:xfrm>
        </p:spPr>
        <p:txBody>
          <a:bodyPr>
            <a:normAutofit fontScale="92500" lnSpcReduction="10000"/>
          </a:bodyPr>
          <a:lstStyle/>
          <a:p>
            <a:pPr algn="just">
              <a:lnSpc>
                <a:spcPct val="100000"/>
              </a:lnSpc>
            </a:pPr>
            <a:r>
              <a:rPr lang="en-US" sz="1800" b="0" dirty="0">
                <a:latin typeface="Times New Roman" panose="02020603050405020304" pitchFamily="18" charset="0"/>
                <a:cs typeface="Times New Roman" panose="02020603050405020304" pitchFamily="18" charset="0"/>
              </a:rPr>
              <a:t>The proposed system was tested on diverse food images to evaluate its performance in detecting food items and estimating calories with and without contextual input.</a:t>
            </a:r>
          </a:p>
          <a:p>
            <a:pPr algn="just">
              <a:lnSpc>
                <a:spcPct val="100000"/>
              </a:lnSpc>
            </a:pPr>
            <a:r>
              <a:rPr lang="en-US" sz="1800" b="0" dirty="0">
                <a:latin typeface="Times New Roman" panose="02020603050405020304" pitchFamily="18" charset="0"/>
                <a:cs typeface="Times New Roman" panose="02020603050405020304" pitchFamily="18" charset="0"/>
              </a:rPr>
              <a:t>Figure 2 shows the initial detection stage, where the YOLOv8n model accurately identifies multiple food items using bounding </a:t>
            </a:r>
            <a:r>
              <a:rPr lang="en-US" sz="1800" b="0" dirty="0" err="1">
                <a:latin typeface="Times New Roman" panose="02020603050405020304" pitchFamily="18" charset="0"/>
                <a:cs typeface="Times New Roman" panose="02020603050405020304" pitchFamily="18" charset="0"/>
              </a:rPr>
              <a:t>boxes.The</a:t>
            </a:r>
            <a:r>
              <a:rPr lang="en-US" sz="1800" b="0" dirty="0">
                <a:latin typeface="Times New Roman" panose="02020603050405020304" pitchFamily="18" charset="0"/>
                <a:cs typeface="Times New Roman" panose="02020603050405020304" pitchFamily="18" charset="0"/>
              </a:rPr>
              <a:t> detection model achieved a mean Average Precision (mAP@0.5) of 95.1%, confirming its reliability in recognizing varied and overlapping foods under real-world conditions.</a:t>
            </a:r>
          </a:p>
          <a:p>
            <a:pPr algn="just">
              <a:lnSpc>
                <a:spcPct val="100000"/>
              </a:lnSpc>
            </a:pPr>
            <a:r>
              <a:rPr lang="en-US" sz="1800" b="0" dirty="0">
                <a:latin typeface="Times New Roman" panose="02020603050405020304" pitchFamily="18" charset="0"/>
                <a:cs typeface="Times New Roman" panose="02020603050405020304" pitchFamily="18" charset="0"/>
              </a:rPr>
              <a:t>Figure 3 shows the complete system output, where each detected item is paired with its base calorie value. This demonstrates the core functionality of visual recognition combined with nutritional mapping.</a:t>
            </a:r>
          </a:p>
          <a:p>
            <a:pPr algn="just">
              <a:lnSpc>
                <a:spcPct val="100000"/>
              </a:lnSpc>
            </a:pPr>
            <a:r>
              <a:rPr lang="en-US" sz="1800" b="0" dirty="0">
                <a:latin typeface="Times New Roman" panose="02020603050405020304" pitchFamily="18" charset="0"/>
                <a:cs typeface="Times New Roman" panose="02020603050405020304" pitchFamily="18" charset="0"/>
              </a:rPr>
              <a:t>Figure 4 highlights the role of NLP in refining the calorie estimates. For example, when a user enters a phrase like “butter dosa from hotel,” the system interprets these cues and adjusts the calorie values accordingly.</a:t>
            </a:r>
            <a:r>
              <a:rPr lang="en-US" sz="1800" dirty="0"/>
              <a:t> </a:t>
            </a:r>
            <a:r>
              <a:rPr lang="en-US" sz="1800" b="0" dirty="0">
                <a:latin typeface="Times New Roman" panose="02020603050405020304" pitchFamily="18" charset="0"/>
                <a:cs typeface="Times New Roman" panose="02020603050405020304" pitchFamily="18" charset="0"/>
              </a:rPr>
              <a:t>The overall adjusted calorie estimation accuracy reached 93%, showing strong alignment with ground truth values even after semantic modifications.</a:t>
            </a:r>
          </a:p>
          <a:p>
            <a:pPr algn="just">
              <a:lnSpc>
                <a:spcPct val="100000"/>
              </a:lnSpc>
            </a:pPr>
            <a:r>
              <a:rPr lang="en-US" sz="1800" b="0" dirty="0">
                <a:latin typeface="Times New Roman" panose="02020603050405020304" pitchFamily="18" charset="0"/>
                <a:cs typeface="Times New Roman" panose="02020603050405020304" pitchFamily="18" charset="0"/>
              </a:rPr>
              <a:t>These results validate that the system accurately detects food visually and intelligently modifies calorie estimates through semantic understanding, making it suitable for practical use.</a:t>
            </a:r>
            <a:endParaRPr lang="en-IN" sz="1800" b="0" dirty="0">
              <a:latin typeface="Times New Roman" panose="02020603050405020304" pitchFamily="18" charset="0"/>
              <a:cs typeface="Times New Roman" panose="02020603050405020304" pitchFamily="18" charset="0"/>
            </a:endParaRPr>
          </a:p>
        </p:txBody>
      </p:sp>
      <p:sp>
        <p:nvSpPr>
          <p:cNvPr id="4" name="Minus Sign 3">
            <a:extLst>
              <a:ext uri="{FF2B5EF4-FFF2-40B4-BE49-F238E27FC236}">
                <a16:creationId xmlns:a16="http://schemas.microsoft.com/office/drawing/2014/main" id="{B5D115CE-F54F-9350-9A34-63E9A3E4CC8A}"/>
              </a:ext>
            </a:extLst>
          </p:cNvPr>
          <p:cNvSpPr/>
          <p:nvPr/>
        </p:nvSpPr>
        <p:spPr>
          <a:xfrm>
            <a:off x="-145297" y="559092"/>
            <a:ext cx="3946727" cy="477520"/>
          </a:xfrm>
          <a:prstGeom prst="mathMinus">
            <a:avLst/>
          </a:prstGeom>
          <a:solidFill>
            <a:schemeClr val="tx2">
              <a:lumMod val="75000"/>
            </a:schemeClr>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pic>
        <p:nvPicPr>
          <p:cNvPr id="5" name="Picture 4">
            <a:extLst>
              <a:ext uri="{FF2B5EF4-FFF2-40B4-BE49-F238E27FC236}">
                <a16:creationId xmlns:a16="http://schemas.microsoft.com/office/drawing/2014/main" id="{EBA24E4E-6298-A49E-DBB0-4B0589198089}"/>
              </a:ext>
            </a:extLst>
          </p:cNvPr>
          <p:cNvPicPr>
            <a:picLocks noChangeAspect="1"/>
          </p:cNvPicPr>
          <p:nvPr/>
        </p:nvPicPr>
        <p:blipFill rotWithShape="1">
          <a:blip r:embed="rId2">
            <a:extLst>
              <a:ext uri="{28A0092B-C50C-407E-A947-70E740481C1C}">
                <a14:useLocalDpi xmlns:a14="http://schemas.microsoft.com/office/drawing/2010/main" val="0"/>
              </a:ext>
            </a:extLst>
          </a:blip>
          <a:srcRect t="5188"/>
          <a:stretch>
            <a:fillRect/>
          </a:stretch>
        </p:blipFill>
        <p:spPr bwMode="auto">
          <a:xfrm>
            <a:off x="8590427" y="0"/>
            <a:ext cx="3274695" cy="2388235"/>
          </a:xfrm>
          <a:prstGeom prst="rect">
            <a:avLst/>
          </a:prstGeom>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61C1427A-5144-20B6-71D2-DBB82FC637B8}"/>
              </a:ext>
            </a:extLst>
          </p:cNvPr>
          <p:cNvSpPr txBox="1"/>
          <p:nvPr/>
        </p:nvSpPr>
        <p:spPr>
          <a:xfrm>
            <a:off x="8507264" y="2345011"/>
            <a:ext cx="3684736" cy="502702"/>
          </a:xfrm>
          <a:prstGeom prst="rect">
            <a:avLst/>
          </a:prstGeom>
          <a:noFill/>
        </p:spPr>
        <p:txBody>
          <a:bodyPr wrap="square">
            <a:spAutoFit/>
          </a:bodyPr>
          <a:lstStyle/>
          <a:p>
            <a:pPr algn="ctr">
              <a:spcAft>
                <a:spcPts val="800"/>
              </a:spcAft>
              <a:buNone/>
            </a:pPr>
            <a:r>
              <a:rPr lang="en-IN" sz="1000" b="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Figure </a:t>
            </a:r>
            <a:r>
              <a:rPr lang="en-IN" sz="1000" b="1" kern="1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2</a:t>
            </a:r>
            <a:r>
              <a:rPr lang="en-IN" sz="1000" b="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Interface showing detected food items with YOLOv8</a:t>
            </a:r>
          </a:p>
          <a:p>
            <a:pPr algn="ctr">
              <a:spcAft>
                <a:spcPts val="800"/>
              </a:spcAft>
              <a:buNone/>
            </a:pPr>
            <a:r>
              <a:rPr lang="en-IN" sz="1000" b="1"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bounding boxes</a:t>
            </a:r>
            <a:endParaRPr lang="en-IN" sz="10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A045878B-0D41-A804-3F2B-5446E0C05D22}"/>
              </a:ext>
            </a:extLst>
          </p:cNvPr>
          <p:cNvSpPr txBox="1"/>
          <p:nvPr/>
        </p:nvSpPr>
        <p:spPr>
          <a:xfrm>
            <a:off x="8248354" y="6439559"/>
            <a:ext cx="2004695" cy="400110"/>
          </a:xfrm>
          <a:prstGeom prst="rect">
            <a:avLst/>
          </a:prstGeom>
          <a:noFill/>
        </p:spPr>
        <p:txBody>
          <a:bodyPr wrap="square">
            <a:spAutoFit/>
          </a:bodyPr>
          <a:lstStyle/>
          <a:p>
            <a:pPr algn="ctr"/>
            <a:r>
              <a:rPr lang="en-US" sz="1000" b="1" dirty="0">
                <a:solidFill>
                  <a:schemeClr val="bg1"/>
                </a:solidFill>
                <a:latin typeface="Times New Roman" panose="02020603050405020304" pitchFamily="18" charset="0"/>
                <a:cs typeface="Times New Roman" panose="02020603050405020304" pitchFamily="18" charset="0"/>
              </a:rPr>
              <a:t>Figure 3: Multi-dish output with calorie values</a:t>
            </a:r>
            <a:endParaRPr lang="en-IN" sz="1000" b="1" dirty="0">
              <a:solidFill>
                <a:schemeClr val="bg1"/>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7B7092F9-2B96-46A3-8713-E64B5211A0E6}"/>
              </a:ext>
            </a:extLst>
          </p:cNvPr>
          <p:cNvSpPr txBox="1"/>
          <p:nvPr/>
        </p:nvSpPr>
        <p:spPr>
          <a:xfrm>
            <a:off x="10041122" y="6492976"/>
            <a:ext cx="2307094" cy="400110"/>
          </a:xfrm>
          <a:prstGeom prst="rect">
            <a:avLst/>
          </a:prstGeom>
          <a:noFill/>
        </p:spPr>
        <p:txBody>
          <a:bodyPr wrap="square">
            <a:spAutoFit/>
          </a:bodyPr>
          <a:lstStyle/>
          <a:p>
            <a:pPr algn="ctr"/>
            <a:r>
              <a:rPr lang="en-US" sz="1000" b="1" dirty="0">
                <a:solidFill>
                  <a:schemeClr val="bg1"/>
                </a:solidFill>
                <a:latin typeface="Times New Roman" panose="02020603050405020304" pitchFamily="18" charset="0"/>
                <a:cs typeface="Times New Roman" panose="02020603050405020304" pitchFamily="18" charset="0"/>
              </a:rPr>
              <a:t>Figure 4: NLP-enhanced calorie </a:t>
            </a:r>
          </a:p>
          <a:p>
            <a:pPr algn="ctr"/>
            <a:r>
              <a:rPr lang="en-US" sz="1000" b="1" dirty="0">
                <a:solidFill>
                  <a:schemeClr val="bg1"/>
                </a:solidFill>
                <a:latin typeface="Times New Roman" panose="02020603050405020304" pitchFamily="18" charset="0"/>
                <a:cs typeface="Times New Roman" panose="02020603050405020304" pitchFamily="18" charset="0"/>
              </a:rPr>
              <a:t>adjustment</a:t>
            </a:r>
            <a:endParaRPr lang="en-IN" sz="1000" b="1"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4AC20DB-6E8B-4661-7ECE-4678C5FD79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10040" y="2847713"/>
            <a:ext cx="1931082" cy="3591846"/>
          </a:xfrm>
          <a:prstGeom prst="rect">
            <a:avLst/>
          </a:prstGeom>
        </p:spPr>
      </p:pic>
      <p:pic>
        <p:nvPicPr>
          <p:cNvPr id="10" name="Picture 9">
            <a:extLst>
              <a:ext uri="{FF2B5EF4-FFF2-40B4-BE49-F238E27FC236}">
                <a16:creationId xmlns:a16="http://schemas.microsoft.com/office/drawing/2014/main" id="{E22078A5-FF83-D1DA-3E33-9AF8ADE164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64017" y="2847713"/>
            <a:ext cx="1931082" cy="3591846"/>
          </a:xfrm>
          <a:prstGeom prst="rect">
            <a:avLst/>
          </a:prstGeom>
        </p:spPr>
      </p:pic>
    </p:spTree>
    <p:extLst>
      <p:ext uri="{BB962C8B-B14F-4D97-AF65-F5344CB8AC3E}">
        <p14:creationId xmlns:p14="http://schemas.microsoft.com/office/powerpoint/2010/main" val="2269218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063D1-2D8C-70C7-60FD-EA0E90286878}"/>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 CONCLUSION</a:t>
            </a:r>
          </a:p>
        </p:txBody>
      </p:sp>
      <p:sp>
        <p:nvSpPr>
          <p:cNvPr id="3" name="Content Placeholder 2">
            <a:extLst>
              <a:ext uri="{FF2B5EF4-FFF2-40B4-BE49-F238E27FC236}">
                <a16:creationId xmlns:a16="http://schemas.microsoft.com/office/drawing/2014/main" id="{7A343799-7625-4435-4E38-F9820751F13A}"/>
              </a:ext>
            </a:extLst>
          </p:cNvPr>
          <p:cNvSpPr>
            <a:spLocks noGrp="1"/>
          </p:cNvSpPr>
          <p:nvPr>
            <p:ph sz="quarter" idx="13"/>
          </p:nvPr>
        </p:nvSpPr>
        <p:spPr>
          <a:xfrm>
            <a:off x="101601" y="2281918"/>
            <a:ext cx="7280506" cy="4386510"/>
          </a:xfrm>
        </p:spPr>
        <p:txBody>
          <a:bodyPr>
            <a:normAutofit/>
          </a:bodyPr>
          <a:lstStyle/>
          <a:p>
            <a:pPr algn="just">
              <a:lnSpc>
                <a:spcPct val="100000"/>
              </a:lnSpc>
            </a:pPr>
            <a:r>
              <a:rPr lang="en-US" sz="1800" b="0" dirty="0">
                <a:latin typeface="Times New Roman" panose="02020603050405020304" pitchFamily="18" charset="0"/>
                <a:cs typeface="Times New Roman" panose="02020603050405020304" pitchFamily="18" charset="0"/>
              </a:rPr>
              <a:t>The project successfully demonstrates how artificial intelligence can be applied to the domain of nutrition through image-based food detection and context-aware calorie estimation.</a:t>
            </a:r>
          </a:p>
          <a:p>
            <a:pPr algn="just">
              <a:lnSpc>
                <a:spcPct val="100000"/>
              </a:lnSpc>
            </a:pPr>
            <a:r>
              <a:rPr lang="en-US" sz="1800" b="0" dirty="0">
                <a:latin typeface="Times New Roman" panose="02020603050405020304" pitchFamily="18" charset="0"/>
                <a:cs typeface="Times New Roman" panose="02020603050405020304" pitchFamily="18" charset="0"/>
              </a:rPr>
              <a:t>By integrating YOLOv8 for visual recognition and NLP for understanding user input, the system provides a more realistic and adaptive calorie prediction model.</a:t>
            </a:r>
          </a:p>
          <a:p>
            <a:pPr algn="just">
              <a:lnSpc>
                <a:spcPct val="100000"/>
              </a:lnSpc>
            </a:pPr>
            <a:r>
              <a:rPr lang="en-US" sz="1800" b="0" dirty="0">
                <a:latin typeface="Times New Roman" panose="02020603050405020304" pitchFamily="18" charset="0"/>
                <a:cs typeface="Times New Roman" panose="02020603050405020304" pitchFamily="18" charset="0"/>
              </a:rPr>
              <a:t>The use of a custom Indian food dataset ensures cultural relevance, while the heuristic adjustment rules make the results closer to actual consumption conditions.</a:t>
            </a:r>
          </a:p>
          <a:p>
            <a:pPr algn="just">
              <a:lnSpc>
                <a:spcPct val="100000"/>
              </a:lnSpc>
            </a:pPr>
            <a:r>
              <a:rPr lang="en-US" sz="1800" b="0" dirty="0">
                <a:latin typeface="Times New Roman" panose="02020603050405020304" pitchFamily="18" charset="0"/>
                <a:cs typeface="Times New Roman" panose="02020603050405020304" pitchFamily="18" charset="0"/>
              </a:rPr>
              <a:t>Experimental validation confirms the system’s potential for real-world usage in fitness tracking, diet planning, and educational contexts.</a:t>
            </a:r>
            <a:endParaRPr lang="en-IN" sz="18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3836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18C0F-CED5-8FED-29BA-285FCEE9360E}"/>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 FUTURE ENHANCEMENTS</a:t>
            </a:r>
          </a:p>
        </p:txBody>
      </p:sp>
      <p:sp>
        <p:nvSpPr>
          <p:cNvPr id="3" name="Content Placeholder 2">
            <a:extLst>
              <a:ext uri="{FF2B5EF4-FFF2-40B4-BE49-F238E27FC236}">
                <a16:creationId xmlns:a16="http://schemas.microsoft.com/office/drawing/2014/main" id="{9D8B6275-C10B-58A3-0888-A59FAD5D7F90}"/>
              </a:ext>
            </a:extLst>
          </p:cNvPr>
          <p:cNvSpPr>
            <a:spLocks noGrp="1"/>
          </p:cNvSpPr>
          <p:nvPr>
            <p:ph sz="quarter" idx="13"/>
          </p:nvPr>
        </p:nvSpPr>
        <p:spPr/>
        <p:txBody>
          <a:bodyPr>
            <a:normAutofit/>
          </a:bodyPr>
          <a:lstStyle/>
          <a:p>
            <a:pPr algn="just">
              <a:lnSpc>
                <a:spcPct val="100000"/>
              </a:lnSpc>
            </a:pPr>
            <a:r>
              <a:rPr lang="en-US" sz="1800" b="0" dirty="0">
                <a:latin typeface="Times New Roman" panose="02020603050405020304" pitchFamily="18" charset="0"/>
                <a:cs typeface="Times New Roman" panose="02020603050405020304" pitchFamily="18" charset="0"/>
              </a:rPr>
              <a:t>Replace heuristic NLP logic with a fine-tuned language model (e.g., BERT or GPT) for more advanced and flexible interpretation of food descriptions.</a:t>
            </a:r>
          </a:p>
          <a:p>
            <a:pPr algn="just">
              <a:lnSpc>
                <a:spcPct val="100000"/>
              </a:lnSpc>
            </a:pPr>
            <a:r>
              <a:rPr lang="en-US" sz="1800" b="0" dirty="0">
                <a:latin typeface="Times New Roman" panose="02020603050405020304" pitchFamily="18" charset="0"/>
                <a:cs typeface="Times New Roman" panose="02020603050405020304" pitchFamily="18" charset="0"/>
              </a:rPr>
              <a:t>Mobile app integration to make the tool more accessible and usable in day-to-day life.</a:t>
            </a:r>
          </a:p>
          <a:p>
            <a:pPr algn="just">
              <a:lnSpc>
                <a:spcPct val="100000"/>
              </a:lnSpc>
            </a:pPr>
            <a:r>
              <a:rPr lang="en-US" sz="1800" b="0" dirty="0">
                <a:latin typeface="Times New Roman" panose="02020603050405020304" pitchFamily="18" charset="0"/>
                <a:cs typeface="Times New Roman" panose="02020603050405020304" pitchFamily="18" charset="0"/>
              </a:rPr>
              <a:t>Voice input support for accessibility, especially for visually impaired users or elderly populations.</a:t>
            </a:r>
            <a:endParaRPr lang="en-IN" sz="18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6581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50BB7-6A07-6370-BC17-D7A4408526CA}"/>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BIBLIOGRAPHY</a:t>
            </a:r>
          </a:p>
        </p:txBody>
      </p:sp>
      <p:sp>
        <p:nvSpPr>
          <p:cNvPr id="3" name="Content Placeholder 2">
            <a:extLst>
              <a:ext uri="{FF2B5EF4-FFF2-40B4-BE49-F238E27FC236}">
                <a16:creationId xmlns:a16="http://schemas.microsoft.com/office/drawing/2014/main" id="{4A0D14AE-D1B9-28C9-C7C1-429372471CF3}"/>
              </a:ext>
            </a:extLst>
          </p:cNvPr>
          <p:cNvSpPr>
            <a:spLocks noGrp="1"/>
          </p:cNvSpPr>
          <p:nvPr>
            <p:ph sz="quarter" idx="13"/>
          </p:nvPr>
        </p:nvSpPr>
        <p:spPr>
          <a:xfrm>
            <a:off x="594360" y="1981280"/>
            <a:ext cx="10419080" cy="3708517"/>
          </a:xfrm>
        </p:spPr>
        <p:txBody>
          <a:bodyPr>
            <a:noAutofit/>
          </a:bodyPr>
          <a:lstStyle/>
          <a:p>
            <a:pPr algn="just">
              <a:lnSpc>
                <a:spcPct val="100000"/>
              </a:lnSpc>
            </a:pPr>
            <a:r>
              <a:rPr lang="en-IN" sz="1600" b="0" dirty="0">
                <a:latin typeface="Times New Roman" panose="02020603050405020304" pitchFamily="18" charset="0"/>
                <a:cs typeface="Times New Roman" panose="02020603050405020304" pitchFamily="18" charset="0"/>
              </a:rPr>
              <a:t>B. M. Ahmed et al., A Study on Food Value Estimation From Images,</a:t>
            </a:r>
          </a:p>
          <a:p>
            <a:pPr algn="just">
              <a:lnSpc>
                <a:spcPct val="100000"/>
              </a:lnSpc>
            </a:pPr>
            <a:r>
              <a:rPr lang="en-IN" sz="1600" b="0" dirty="0">
                <a:latin typeface="Times New Roman" panose="02020603050405020304" pitchFamily="18" charset="0"/>
                <a:cs typeface="Times New Roman" panose="02020603050405020304" pitchFamily="18" charset="0"/>
              </a:rPr>
              <a:t>N. </a:t>
            </a:r>
            <a:r>
              <a:rPr lang="en-IN" sz="1600" b="0" dirty="0" err="1">
                <a:latin typeface="Times New Roman" panose="02020603050405020304" pitchFamily="18" charset="0"/>
                <a:cs typeface="Times New Roman" panose="02020603050405020304" pitchFamily="18" charset="0"/>
              </a:rPr>
              <a:t>Darapaneni</a:t>
            </a:r>
            <a:r>
              <a:rPr lang="en-IN" sz="1600" b="0" dirty="0">
                <a:latin typeface="Times New Roman" panose="02020603050405020304" pitchFamily="18" charset="0"/>
                <a:cs typeface="Times New Roman" panose="02020603050405020304" pitchFamily="18" charset="0"/>
              </a:rPr>
              <a:t> et al., Food Image Recognition and Calorie Prediction,” IEEE IEMTRONICS, 2021.</a:t>
            </a:r>
          </a:p>
          <a:p>
            <a:pPr algn="just">
              <a:lnSpc>
                <a:spcPct val="100000"/>
              </a:lnSpc>
            </a:pPr>
            <a:r>
              <a:rPr lang="en-IN" sz="1600" b="0" dirty="0">
                <a:latin typeface="Times New Roman" panose="02020603050405020304" pitchFamily="18" charset="0"/>
                <a:cs typeface="Times New Roman" panose="02020603050405020304" pitchFamily="18" charset="0"/>
              </a:rPr>
              <a:t>P. </a:t>
            </a:r>
            <a:r>
              <a:rPr lang="en-IN" sz="1600" b="0" dirty="0" err="1">
                <a:latin typeface="Times New Roman" panose="02020603050405020304" pitchFamily="18" charset="0"/>
                <a:cs typeface="Times New Roman" panose="02020603050405020304" pitchFamily="18" charset="0"/>
              </a:rPr>
              <a:t>Panindre</a:t>
            </a:r>
            <a:r>
              <a:rPr lang="en-IN" sz="1600" b="0" dirty="0">
                <a:latin typeface="Times New Roman" panose="02020603050405020304" pitchFamily="18" charset="0"/>
                <a:cs typeface="Times New Roman" panose="02020603050405020304" pitchFamily="18" charset="0"/>
              </a:rPr>
              <a:t> et al., Deep Learning Framework for Food Item Recognition and Nutrition Assessment, ICMCSI, 2025.</a:t>
            </a:r>
          </a:p>
          <a:p>
            <a:pPr algn="just">
              <a:lnSpc>
                <a:spcPct val="100000"/>
              </a:lnSpc>
            </a:pPr>
            <a:r>
              <a:rPr lang="en-IN" sz="1600" b="0" dirty="0">
                <a:latin typeface="Times New Roman" panose="02020603050405020304" pitchFamily="18" charset="0"/>
                <a:cs typeface="Times New Roman" panose="02020603050405020304" pitchFamily="18" charset="0"/>
              </a:rPr>
              <a:t>F. </a:t>
            </a:r>
            <a:r>
              <a:rPr lang="en-IN" sz="1600" b="0" dirty="0" err="1">
                <a:latin typeface="Times New Roman" panose="02020603050405020304" pitchFamily="18" charset="0"/>
                <a:cs typeface="Times New Roman" panose="02020603050405020304" pitchFamily="18" charset="0"/>
              </a:rPr>
              <a:t>Nitiavintokana</a:t>
            </a:r>
            <a:r>
              <a:rPr lang="en-IN" sz="1600" b="0" dirty="0">
                <a:latin typeface="Times New Roman" panose="02020603050405020304" pitchFamily="18" charset="0"/>
                <a:cs typeface="Times New Roman" panose="02020603050405020304" pitchFamily="18" charset="0"/>
              </a:rPr>
              <a:t> et al., Intelligent Food Identification System Using Improved YOLOv8, ISCSET, 2024.</a:t>
            </a:r>
          </a:p>
          <a:p>
            <a:pPr algn="just">
              <a:lnSpc>
                <a:spcPct val="100000"/>
              </a:lnSpc>
            </a:pPr>
            <a:r>
              <a:rPr lang="en-IN" sz="1600" b="0" dirty="0">
                <a:latin typeface="Times New Roman" panose="02020603050405020304" pitchFamily="18" charset="0"/>
                <a:cs typeface="Times New Roman" panose="02020603050405020304" pitchFamily="18" charset="0"/>
              </a:rPr>
              <a:t>Z. Liang et al., Lightweight Food Image Recognition Algorithm Based on YOLOv8, </a:t>
            </a:r>
            <a:r>
              <a:rPr lang="en-IN" sz="1600" b="0" dirty="0" err="1">
                <a:latin typeface="Times New Roman" panose="02020603050405020304" pitchFamily="18" charset="0"/>
                <a:cs typeface="Times New Roman" panose="02020603050405020304" pitchFamily="18" charset="0"/>
              </a:rPr>
              <a:t>ISCTech</a:t>
            </a:r>
            <a:r>
              <a:rPr lang="en-IN" sz="1600" b="0" dirty="0">
                <a:latin typeface="Times New Roman" panose="02020603050405020304" pitchFamily="18" charset="0"/>
                <a:cs typeface="Times New Roman" panose="02020603050405020304" pitchFamily="18" charset="0"/>
              </a:rPr>
              <a:t>, 2024.</a:t>
            </a:r>
          </a:p>
          <a:p>
            <a:pPr algn="just">
              <a:lnSpc>
                <a:spcPct val="100000"/>
              </a:lnSpc>
            </a:pPr>
            <a:r>
              <a:rPr lang="en-IN" sz="1600" b="0" dirty="0">
                <a:latin typeface="Times New Roman" panose="02020603050405020304" pitchFamily="18" charset="0"/>
                <a:cs typeface="Times New Roman" panose="02020603050405020304" pitchFamily="18" charset="0"/>
              </a:rPr>
              <a:t>P. C. P. et al., </a:t>
            </a:r>
            <a:r>
              <a:rPr lang="en-IN" sz="1600" b="0" dirty="0" err="1">
                <a:latin typeface="Times New Roman" panose="02020603050405020304" pitchFamily="18" charset="0"/>
                <a:cs typeface="Times New Roman" panose="02020603050405020304" pitchFamily="18" charset="0"/>
              </a:rPr>
              <a:t>CalorieAI</a:t>
            </a:r>
            <a:r>
              <a:rPr lang="en-IN" sz="1600" b="0" dirty="0">
                <a:latin typeface="Times New Roman" panose="02020603050405020304" pitchFamily="18" charset="0"/>
                <a:cs typeface="Times New Roman" panose="02020603050405020304" pitchFamily="18" charset="0"/>
              </a:rPr>
              <a:t>: Deep Learning-Based Food Calorie Estimation System, Panimalar </a:t>
            </a:r>
            <a:r>
              <a:rPr lang="en-IN" sz="1600" b="0" dirty="0" err="1">
                <a:latin typeface="Times New Roman" panose="02020603050405020304" pitchFamily="18" charset="0"/>
                <a:cs typeface="Times New Roman" panose="02020603050405020304" pitchFamily="18" charset="0"/>
              </a:rPr>
              <a:t>Engg</a:t>
            </a:r>
            <a:r>
              <a:rPr lang="en-IN" sz="1600" b="0" dirty="0">
                <a:latin typeface="Times New Roman" panose="02020603050405020304" pitchFamily="18" charset="0"/>
                <a:cs typeface="Times New Roman" panose="02020603050405020304" pitchFamily="18" charset="0"/>
              </a:rPr>
              <a:t>. College.</a:t>
            </a:r>
          </a:p>
          <a:p>
            <a:pPr algn="just">
              <a:lnSpc>
                <a:spcPct val="100000"/>
              </a:lnSpc>
            </a:pPr>
            <a:r>
              <a:rPr lang="en-IN" sz="1600" b="0" dirty="0">
                <a:latin typeface="Times New Roman" panose="02020603050405020304" pitchFamily="18" charset="0"/>
                <a:cs typeface="Times New Roman" panose="02020603050405020304" pitchFamily="18" charset="0"/>
              </a:rPr>
              <a:t> V. Gayatri and M. Thanuja, Indian Food Recognition and Calorie Estimation Using YOLOv8.</a:t>
            </a:r>
          </a:p>
          <a:p>
            <a:pPr algn="just">
              <a:lnSpc>
                <a:spcPct val="100000"/>
              </a:lnSpc>
            </a:pPr>
            <a:r>
              <a:rPr lang="en-IN" sz="1600" b="0" dirty="0">
                <a:latin typeface="Times New Roman" panose="02020603050405020304" pitchFamily="18" charset="0"/>
                <a:cs typeface="Times New Roman" panose="02020603050405020304" pitchFamily="18" charset="0"/>
              </a:rPr>
              <a:t>USDA </a:t>
            </a:r>
            <a:r>
              <a:rPr lang="en-IN" sz="1600" b="0" dirty="0" err="1">
                <a:latin typeface="Times New Roman" panose="02020603050405020304" pitchFamily="18" charset="0"/>
                <a:cs typeface="Times New Roman" panose="02020603050405020304" pitchFamily="18" charset="0"/>
              </a:rPr>
              <a:t>FoodData</a:t>
            </a:r>
            <a:r>
              <a:rPr lang="en-IN" sz="1600" b="0" dirty="0">
                <a:latin typeface="Times New Roman" panose="02020603050405020304" pitchFamily="18" charset="0"/>
                <a:cs typeface="Times New Roman" panose="02020603050405020304" pitchFamily="18" charset="0"/>
              </a:rPr>
              <a:t> Central, </a:t>
            </a:r>
            <a:r>
              <a:rPr lang="en-IN" sz="1600" b="0" dirty="0">
                <a:latin typeface="Times New Roman" panose="02020603050405020304" pitchFamily="18" charset="0"/>
                <a:cs typeface="Times New Roman" panose="02020603050405020304" pitchFamily="18" charset="0"/>
                <a:hlinkClick r:id="rId2"/>
              </a:rPr>
              <a:t>https://fdc.nal.usda.gov</a:t>
            </a:r>
            <a:endParaRPr lang="en-IN" sz="1600" b="0" dirty="0">
              <a:latin typeface="Times New Roman" panose="02020603050405020304" pitchFamily="18" charset="0"/>
              <a:cs typeface="Times New Roman" panose="02020603050405020304" pitchFamily="18" charset="0"/>
            </a:endParaRPr>
          </a:p>
          <a:p>
            <a:pPr algn="just">
              <a:lnSpc>
                <a:spcPct val="100000"/>
              </a:lnSpc>
            </a:pPr>
            <a:r>
              <a:rPr lang="en-IN" sz="1400" b="0" dirty="0" err="1">
                <a:latin typeface="Times New Roman" panose="02020603050405020304" pitchFamily="18" charset="0"/>
                <a:cs typeface="Times New Roman" panose="02020603050405020304" pitchFamily="18" charset="0"/>
              </a:rPr>
              <a:t>Roboflow</a:t>
            </a:r>
            <a:r>
              <a:rPr lang="en-IN" sz="1400" b="0" dirty="0">
                <a:latin typeface="Times New Roman" panose="02020603050405020304" pitchFamily="18" charset="0"/>
                <a:cs typeface="Times New Roman" panose="02020603050405020304" pitchFamily="18" charset="0"/>
              </a:rPr>
              <a:t> Team, “Indian Food Detection Dataset” Roboflow Universe, 2022. [Online]. Available: </a:t>
            </a:r>
            <a:r>
              <a:rPr lang="en-IN" sz="1400" b="0" u="sng" dirty="0">
                <a:latin typeface="Times New Roman" panose="02020603050405020304" pitchFamily="18" charset="0"/>
                <a:cs typeface="Times New Roman" panose="02020603050405020304" pitchFamily="18" charset="0"/>
                <a:hlinkClick r:id="rId3"/>
              </a:rPr>
              <a:t>https://universe.roboflow.com/indianfood/indian_food-pwzlc</a:t>
            </a:r>
            <a:endParaRPr lang="en-IN" sz="16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971991"/>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Banded Edge">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17779" dir="5400000" rotWithShape="0">
              <a:srgbClr val="000000">
                <a:alpha val="4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21FFAC0-05A2-416A-B06C-C248395482C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Geometric annual presentation</Template>
  <TotalTime>1436</TotalTime>
  <Words>2401</Words>
  <Application>Microsoft Office PowerPoint</Application>
  <PresentationFormat>Widescreen</PresentationFormat>
  <Paragraphs>267</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Franklin Gothic Book</vt:lpstr>
      <vt:lpstr>Franklin Gothic Demi</vt:lpstr>
      <vt:lpstr>Times New Roman</vt:lpstr>
      <vt:lpstr>Custom</vt:lpstr>
      <vt:lpstr>Image-Based Food Recognition for Calorie Detection </vt:lpstr>
      <vt:lpstr>AGENDA</vt:lpstr>
      <vt:lpstr>ABSTRACT</vt:lpstr>
      <vt:lpstr>INTRODUCTION</vt:lpstr>
      <vt:lpstr> LITERATURE SURVEY</vt:lpstr>
      <vt:lpstr>PowerPoint Presentation</vt:lpstr>
      <vt:lpstr>PowerPoint Presentation</vt:lpstr>
      <vt:lpstr>RESEARCH GAPS IDENTIFIED FROM LITERATURE REVIEW</vt:lpstr>
      <vt:lpstr>PowerPoint Presentation</vt:lpstr>
      <vt:lpstr> OBJECTIVES OF  INVESTIGATION</vt:lpstr>
      <vt:lpstr>DATASET</vt:lpstr>
      <vt:lpstr>PROPOSED SYSTEM</vt:lpstr>
      <vt:lpstr> RESULT</vt:lpstr>
      <vt:lpstr> CONCLUSION</vt:lpstr>
      <vt:lpstr> FUTURE ENHANCEMENTS</vt:lpstr>
      <vt:lpstr>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Vaishnavi GK</dc:creator>
  <cp:lastModifiedBy>Vaishnavi GK</cp:lastModifiedBy>
  <cp:revision>20</cp:revision>
  <dcterms:created xsi:type="dcterms:W3CDTF">2025-07-03T05:45:58Z</dcterms:created>
  <dcterms:modified xsi:type="dcterms:W3CDTF">2025-07-28T06:02:32Z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